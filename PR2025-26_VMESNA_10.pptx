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256" r:id="rId2"/>
    <p:sldId id="258" r:id="rId3"/>
    <p:sldId id="262" r:id="rId4"/>
    <p:sldId id="261" r:id="rId5"/>
    <p:sldId id="260" r:id="rId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4"/>
    <p:restoredTop sz="94694"/>
  </p:normalViewPr>
  <p:slideViewPr>
    <p:cSldViewPr snapToGrid="0" snapToObjects="1">
      <p:cViewPr varScale="1">
        <p:scale>
          <a:sx n="119" d="100"/>
          <a:sy n="119" d="100"/>
        </p:scale>
        <p:origin x="23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astf1.dev/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7" y="73152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r>
              <a:rPr lang="en-GB" b="1" dirty="0"/>
              <a:t>Analiza dirk </a:t>
            </a:r>
            <a:r>
              <a:rPr lang="en-GB" b="1" dirty="0" err="1"/>
              <a:t>Formule</a:t>
            </a:r>
            <a:r>
              <a:rPr lang="en-GB" b="1" dirty="0"/>
              <a:t>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73152"/>
            <a:ext cx="6610190" cy="4727448"/>
          </a:xfrm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Knjižnica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FastF1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Najobsežnejši</a:t>
            </a:r>
            <a:r>
              <a:rPr lang="en-US" sz="1600" dirty="0"/>
              <a:t> </a:t>
            </a:r>
            <a:r>
              <a:rPr lang="en-US" sz="1600" dirty="0" err="1"/>
              <a:t>javno</a:t>
            </a:r>
            <a:r>
              <a:rPr lang="en-US" sz="1600" dirty="0"/>
              <a:t> </a:t>
            </a:r>
            <a:r>
              <a:rPr lang="en-US" sz="1600" dirty="0" err="1"/>
              <a:t>dostopni</a:t>
            </a:r>
            <a:r>
              <a:rPr lang="en-US" sz="1600" dirty="0"/>
              <a:t> </a:t>
            </a:r>
            <a:r>
              <a:rPr lang="en-US" sz="1600" dirty="0" err="1"/>
              <a:t>podatki</a:t>
            </a:r>
            <a:r>
              <a:rPr lang="en-US" sz="1600" dirty="0"/>
              <a:t> dirk </a:t>
            </a:r>
            <a:r>
              <a:rPr lang="en-US" sz="1600" dirty="0" err="1"/>
              <a:t>Formule</a:t>
            </a:r>
            <a:r>
              <a:rPr lang="en-US" sz="1600" dirty="0"/>
              <a:t> 1</a:t>
            </a:r>
          </a:p>
          <a:p>
            <a:pPr>
              <a:buFontTx/>
              <a:buChar char="-"/>
            </a:pPr>
            <a:r>
              <a:rPr lang="en-GB" sz="1600" dirty="0" err="1"/>
              <a:t>Meritve</a:t>
            </a:r>
            <a:r>
              <a:rPr lang="en-GB" sz="1600" dirty="0"/>
              <a:t>, </a:t>
            </a:r>
            <a:r>
              <a:rPr lang="en-GB" sz="1600" dirty="0" err="1"/>
              <a:t>statistike</a:t>
            </a:r>
            <a:r>
              <a:rPr lang="en-GB" sz="1600" dirty="0"/>
              <a:t>, </a:t>
            </a:r>
            <a:r>
              <a:rPr lang="en-GB" sz="1600" dirty="0" err="1"/>
              <a:t>časovne</a:t>
            </a:r>
            <a:r>
              <a:rPr lang="en-GB" sz="1600" dirty="0"/>
              <a:t> </a:t>
            </a:r>
            <a:r>
              <a:rPr lang="en-GB" sz="1600" dirty="0" err="1"/>
              <a:t>serije</a:t>
            </a:r>
            <a:r>
              <a:rPr lang="en-GB" sz="1600" dirty="0"/>
              <a:t>; </a:t>
            </a:r>
            <a:r>
              <a:rPr lang="en-GB" sz="1600" dirty="0" err="1"/>
              <a:t>tisoči</a:t>
            </a:r>
            <a:r>
              <a:rPr lang="en-GB" sz="1600" dirty="0"/>
              <a:t> </a:t>
            </a:r>
            <a:r>
              <a:rPr lang="en-GB" sz="1600" dirty="0" err="1"/>
              <a:t>primerov</a:t>
            </a:r>
            <a:r>
              <a:rPr lang="en-GB" sz="1600" dirty="0"/>
              <a:t>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dirko</a:t>
            </a:r>
            <a:r>
              <a:rPr lang="en-GB" sz="1600" dirty="0"/>
              <a:t>, 10–100 </a:t>
            </a:r>
            <a:r>
              <a:rPr lang="en-GB" sz="1600" dirty="0" err="1"/>
              <a:t>atributov</a:t>
            </a:r>
            <a:r>
              <a:rPr lang="en-GB" sz="1600" dirty="0"/>
              <a:t>, </a:t>
            </a:r>
            <a:r>
              <a:rPr lang="en-GB" sz="1600" dirty="0" err="1"/>
              <a:t>več</a:t>
            </a:r>
            <a:r>
              <a:rPr lang="en-GB" sz="1600" dirty="0"/>
              <a:t> </a:t>
            </a:r>
            <a:r>
              <a:rPr lang="en-GB" sz="1600" dirty="0" err="1"/>
              <a:t>razredov</a:t>
            </a:r>
            <a:r>
              <a:rPr lang="en-GB" sz="1600" dirty="0"/>
              <a:t> (</a:t>
            </a:r>
            <a:r>
              <a:rPr lang="en-GB" sz="1600" dirty="0" err="1"/>
              <a:t>vozniki</a:t>
            </a:r>
            <a:r>
              <a:rPr lang="en-GB" sz="1600" dirty="0"/>
              <a:t>, </a:t>
            </a:r>
            <a:r>
              <a:rPr lang="en-GB" sz="1600" dirty="0" err="1"/>
              <a:t>ekipe</a:t>
            </a:r>
            <a:r>
              <a:rPr lang="en-GB" sz="1600" dirty="0"/>
              <a:t>, </a:t>
            </a:r>
            <a:r>
              <a:rPr lang="en-GB" sz="1600" dirty="0" err="1"/>
              <a:t>pnevmatike</a:t>
            </a:r>
            <a:r>
              <a:rPr lang="en-GB" sz="1600" dirty="0"/>
              <a:t>)</a:t>
            </a:r>
          </a:p>
          <a:p>
            <a:pPr>
              <a:buFontTx/>
              <a:buChar char="-"/>
            </a:pPr>
            <a:r>
              <a:rPr lang="en-US" sz="1600" dirty="0"/>
              <a:t>Veliko </a:t>
            </a:r>
            <a:r>
              <a:rPr lang="en-US" sz="1600" dirty="0" err="1"/>
              <a:t>manjkajočih</a:t>
            </a:r>
            <a:r>
              <a:rPr lang="en-US" sz="1600" dirty="0"/>
              <a:t> in </a:t>
            </a:r>
            <a:r>
              <a:rPr lang="en-US" sz="1600" dirty="0" err="1"/>
              <a:t>nekaj</a:t>
            </a:r>
            <a:r>
              <a:rPr lang="en-US" sz="1600" dirty="0"/>
              <a:t> </a:t>
            </a:r>
            <a:r>
              <a:rPr lang="en-US" sz="1600" dirty="0" err="1"/>
              <a:t>napačnih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Prenos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r>
              <a:rPr lang="en-US" sz="1600" dirty="0"/>
              <a:t>, </a:t>
            </a:r>
            <a:r>
              <a:rPr lang="en-US" sz="1600" dirty="0" err="1"/>
              <a:t>filtriranje</a:t>
            </a:r>
            <a:r>
              <a:rPr lang="en-US" sz="1600" dirty="0"/>
              <a:t> (le </a:t>
            </a:r>
            <a:r>
              <a:rPr lang="en-US" sz="1600" dirty="0" err="1"/>
              <a:t>uporabni</a:t>
            </a:r>
            <a:r>
              <a:rPr lang="en-US" sz="1600" dirty="0"/>
              <a:t> </a:t>
            </a:r>
            <a:r>
              <a:rPr lang="en-US" sz="1600" dirty="0" err="1"/>
              <a:t>krogi</a:t>
            </a:r>
            <a:r>
              <a:rPr lang="en-US" sz="1600" dirty="0"/>
              <a:t>), </a:t>
            </a:r>
            <a:r>
              <a:rPr lang="en-US" sz="1600" dirty="0" err="1"/>
              <a:t>odstranjevanje</a:t>
            </a:r>
            <a:r>
              <a:rPr lang="en-US" sz="1600" dirty="0"/>
              <a:t> </a:t>
            </a:r>
            <a:r>
              <a:rPr lang="en-US" sz="1600" dirty="0" err="1"/>
              <a:t>osamelcev</a:t>
            </a:r>
            <a:r>
              <a:rPr lang="en-US" sz="1600" dirty="0"/>
              <a:t>, </a:t>
            </a:r>
            <a:r>
              <a:rPr lang="en-US" sz="1600" dirty="0" err="1"/>
              <a:t>združevanje</a:t>
            </a:r>
            <a:r>
              <a:rPr lang="en-US" sz="1600" dirty="0"/>
              <a:t> (po </a:t>
            </a:r>
            <a:r>
              <a:rPr lang="en-US" sz="1600" dirty="0" err="1"/>
              <a:t>ekipah</a:t>
            </a:r>
            <a:r>
              <a:rPr lang="en-US" sz="1600" dirty="0"/>
              <a:t>, </a:t>
            </a:r>
            <a:r>
              <a:rPr lang="en-US" sz="1600" dirty="0" err="1"/>
              <a:t>voznikih</a:t>
            </a:r>
            <a:r>
              <a:rPr lang="en-US" sz="1600" dirty="0"/>
              <a:t>, </a:t>
            </a:r>
            <a:r>
              <a:rPr lang="en-US" sz="1600" dirty="0" err="1"/>
              <a:t>progah</a:t>
            </a:r>
            <a:r>
              <a:rPr lang="en-US" sz="1600" dirty="0"/>
              <a:t>, …)</a:t>
            </a:r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Degradacija</a:t>
            </a:r>
            <a:r>
              <a:rPr lang="en-US" sz="1600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Vpliv</a:t>
            </a:r>
            <a:r>
              <a:rPr lang="en-US" sz="1600" dirty="0"/>
              <a:t> </a:t>
            </a:r>
            <a:r>
              <a:rPr lang="en-US" sz="1600" dirty="0" err="1"/>
              <a:t>vremena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razultate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Uvrstitev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kvalifikacijah</a:t>
            </a:r>
            <a:r>
              <a:rPr lang="en-US" sz="1600" dirty="0"/>
              <a:t> in </a:t>
            </a:r>
            <a:r>
              <a:rPr lang="en-US" sz="1600" dirty="0" err="1"/>
              <a:t>dirki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ravninske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</a:t>
            </a:r>
            <a:r>
              <a:rPr lang="en-US" sz="1600" dirty="0" err="1"/>
              <a:t>proti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v </a:t>
            </a:r>
            <a:r>
              <a:rPr lang="en-US" sz="1600" dirty="0" err="1"/>
              <a:t>ovinkih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proizvajalcev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Napoved</a:t>
            </a:r>
            <a:r>
              <a:rPr lang="en-US" sz="1600" dirty="0"/>
              <a:t> </a:t>
            </a:r>
            <a:r>
              <a:rPr lang="en-US" sz="1600" dirty="0" err="1"/>
              <a:t>zmagovalca</a:t>
            </a:r>
            <a:r>
              <a:rPr lang="en-US" sz="1600" dirty="0"/>
              <a:t> </a:t>
            </a:r>
            <a:r>
              <a:rPr lang="en-US" sz="1600" dirty="0" err="1"/>
              <a:t>sezone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Matic Žakelj</a:t>
            </a:r>
          </a:p>
          <a:p>
            <a:r>
              <a:rPr lang="en-US" dirty="0"/>
              <a:t>Mark Hafner</a:t>
            </a:r>
          </a:p>
          <a:p>
            <a:r>
              <a:rPr lang="en-US" dirty="0"/>
              <a:t>Nejc </a:t>
            </a:r>
            <a:r>
              <a:rPr lang="en-US" dirty="0" err="1"/>
              <a:t>Gnilšek</a:t>
            </a:r>
            <a:endParaRPr lang="en-US" dirty="0"/>
          </a:p>
          <a:p>
            <a:r>
              <a:rPr lang="en-US" dirty="0"/>
              <a:t>Matevž Kozole Zoran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Degradacija</a:t>
            </a:r>
            <a:r>
              <a:rPr lang="en-US" sz="1600" b="1" dirty="0"/>
              <a:t> gum</a:t>
            </a:r>
          </a:p>
          <a:p>
            <a:pPr marL="0" indent="0">
              <a:buNone/>
            </a:pPr>
            <a:r>
              <a:rPr lang="sl-SI" sz="1600" b="1" dirty="0"/>
              <a:t>Cilj</a:t>
            </a:r>
          </a:p>
          <a:p>
            <a:r>
              <a:rPr lang="en-GB" sz="1600" dirty="0" err="1"/>
              <a:t>primerjava</a:t>
            </a:r>
            <a:r>
              <a:rPr lang="en-GB" sz="1600" dirty="0"/>
              <a:t> </a:t>
            </a:r>
            <a:r>
              <a:rPr lang="en-GB" sz="1600" dirty="0" err="1"/>
              <a:t>različnih</a:t>
            </a:r>
            <a:r>
              <a:rPr lang="en-GB" sz="1600" dirty="0"/>
              <a:t> </a:t>
            </a:r>
            <a:r>
              <a:rPr lang="en-GB" sz="1600" dirty="0" err="1"/>
              <a:t>zmesi</a:t>
            </a:r>
            <a:r>
              <a:rPr lang="en-GB" sz="1600" dirty="0"/>
              <a:t> gum</a:t>
            </a:r>
            <a:endParaRPr lang="sl-SI" sz="1600" dirty="0"/>
          </a:p>
          <a:p>
            <a:pPr marL="0" indent="0">
              <a:buNone/>
            </a:pPr>
            <a:r>
              <a:rPr lang="sl-SI" sz="1600" b="1" dirty="0"/>
              <a:t>Metoda</a:t>
            </a:r>
          </a:p>
          <a:p>
            <a:r>
              <a:rPr lang="en-GB" sz="1600" dirty="0" err="1"/>
              <a:t>čiščenje</a:t>
            </a:r>
            <a:r>
              <a:rPr lang="en-GB" sz="1600" dirty="0"/>
              <a:t> </a:t>
            </a:r>
            <a:r>
              <a:rPr lang="en-GB" sz="1600" dirty="0" err="1"/>
              <a:t>podatkov</a:t>
            </a:r>
            <a:endParaRPr lang="sl-SI" sz="1600" dirty="0"/>
          </a:p>
          <a:p>
            <a:r>
              <a:rPr lang="en-GB" sz="1600" dirty="0" err="1"/>
              <a:t>osnovna</a:t>
            </a:r>
            <a:r>
              <a:rPr lang="en-GB" sz="1600" dirty="0"/>
              <a:t> </a:t>
            </a:r>
            <a:r>
              <a:rPr lang="en-GB" sz="1600" dirty="0" err="1"/>
              <a:t>statistična</a:t>
            </a:r>
            <a:r>
              <a:rPr lang="en-GB" sz="1600" dirty="0"/>
              <a:t> </a:t>
            </a:r>
            <a:r>
              <a:rPr lang="en-GB" sz="1600" dirty="0" err="1"/>
              <a:t>analiza</a:t>
            </a:r>
            <a:endParaRPr lang="en-GB" sz="1600" dirty="0"/>
          </a:p>
          <a:p>
            <a:r>
              <a:rPr lang="en-GB" sz="1600" dirty="0" err="1"/>
              <a:t>linearna</a:t>
            </a:r>
            <a:r>
              <a:rPr lang="en-GB" sz="1600" dirty="0"/>
              <a:t> </a:t>
            </a:r>
            <a:r>
              <a:rPr lang="en-GB" sz="1600" dirty="0" err="1"/>
              <a:t>regresija</a:t>
            </a:r>
            <a:endParaRPr lang="sl-SI" sz="1600" dirty="0"/>
          </a:p>
          <a:p>
            <a:pPr marL="0" indent="0">
              <a:buNone/>
            </a:pPr>
            <a:r>
              <a:rPr lang="sl-SI" sz="1600" b="1" dirty="0"/>
              <a:t>Rezultati</a:t>
            </a:r>
          </a:p>
          <a:p>
            <a:r>
              <a:rPr lang="en-GB" sz="1600" dirty="0" err="1"/>
              <a:t>povprečen</a:t>
            </a:r>
            <a:r>
              <a:rPr lang="en-GB" sz="1600" dirty="0"/>
              <a:t> </a:t>
            </a:r>
            <a:r>
              <a:rPr lang="en-GB" sz="1600" dirty="0" err="1"/>
              <a:t>čas</a:t>
            </a:r>
            <a:r>
              <a:rPr lang="en-GB" sz="1600" dirty="0"/>
              <a:t> </a:t>
            </a:r>
            <a:r>
              <a:rPr lang="en-GB" sz="1600" dirty="0" err="1"/>
              <a:t>kroga</a:t>
            </a:r>
            <a:r>
              <a:rPr lang="en-GB" sz="1600" dirty="0"/>
              <a:t> se s </a:t>
            </a:r>
            <a:r>
              <a:rPr lang="en-GB" sz="1600" dirty="0" err="1"/>
              <a:t>starostjo</a:t>
            </a:r>
            <a:r>
              <a:rPr lang="en-GB" sz="1600" dirty="0"/>
              <a:t> gum </a:t>
            </a:r>
            <a:r>
              <a:rPr lang="en-GB" sz="1600" dirty="0" err="1"/>
              <a:t>povečuje</a:t>
            </a:r>
            <a:endParaRPr lang="el-GR" sz="1600" dirty="0"/>
          </a:p>
          <a:p>
            <a:r>
              <a:rPr lang="en-GB" sz="1600" dirty="0" err="1"/>
              <a:t>opazne</a:t>
            </a:r>
            <a:r>
              <a:rPr lang="en-GB" sz="1600" dirty="0"/>
              <a:t> </a:t>
            </a:r>
            <a:r>
              <a:rPr lang="en-GB" sz="1600" dirty="0" err="1"/>
              <a:t>razlike</a:t>
            </a:r>
            <a:r>
              <a:rPr lang="en-GB" sz="1600" dirty="0"/>
              <a:t> med </a:t>
            </a:r>
            <a:r>
              <a:rPr lang="en-GB" sz="1600" dirty="0" err="1"/>
              <a:t>dirkami</a:t>
            </a:r>
            <a:r>
              <a:rPr lang="en-GB" sz="1600" dirty="0"/>
              <a:t> (</a:t>
            </a:r>
            <a:r>
              <a:rPr lang="en-GB" sz="1600" dirty="0" err="1"/>
              <a:t>pogoji</a:t>
            </a:r>
            <a:r>
              <a:rPr lang="en-GB" sz="1600" dirty="0"/>
              <a:t>, </a:t>
            </a:r>
            <a:r>
              <a:rPr lang="en-GB" sz="1600" dirty="0" err="1"/>
              <a:t>taktike</a:t>
            </a:r>
            <a:r>
              <a:rPr lang="en-GB" sz="1600" dirty="0"/>
              <a:t>)</a:t>
            </a:r>
            <a:endParaRPr lang="en-US" sz="13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279256-EDDE-5953-EF44-D90A1C80F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737" y="3536378"/>
            <a:ext cx="2906579" cy="1301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493661-9FF1-0828-A89A-645811DD0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6599" y="556020"/>
            <a:ext cx="3376856" cy="298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80395-2CE6-867A-1591-38938F3E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86D9F-B4E1-4A39-84B6-8CA11BD0A5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konstruktorjev</a:t>
            </a:r>
            <a:endParaRPr lang="en-US" sz="1600" b="1" dirty="0"/>
          </a:p>
          <a:p>
            <a:pPr marL="0" indent="0">
              <a:buNone/>
            </a:pPr>
            <a:r>
              <a:rPr lang="sl-SI" sz="1600" b="1" dirty="0"/>
              <a:t>Cilj</a:t>
            </a:r>
          </a:p>
          <a:p>
            <a:r>
              <a:rPr lang="sl-SI" sz="1600" dirty="0"/>
              <a:t> </a:t>
            </a:r>
            <a:r>
              <a:rPr lang="en-GB" sz="1600" dirty="0" err="1"/>
              <a:t>ugotoviti</a:t>
            </a:r>
            <a:r>
              <a:rPr lang="en-GB" sz="1600" dirty="0"/>
              <a:t> </a:t>
            </a:r>
            <a:r>
              <a:rPr lang="en-GB" sz="1600" dirty="0" err="1"/>
              <a:t>katere</a:t>
            </a:r>
            <a:r>
              <a:rPr lang="en-GB" sz="1600" dirty="0"/>
              <a:t> </a:t>
            </a:r>
            <a:r>
              <a:rPr lang="en-GB" sz="1600" dirty="0" err="1"/>
              <a:t>ekipe</a:t>
            </a:r>
            <a:r>
              <a:rPr lang="en-GB" sz="1600" dirty="0"/>
              <a:t> so </a:t>
            </a:r>
            <a:r>
              <a:rPr lang="en-GB" sz="1600" dirty="0" err="1"/>
              <a:t>najbolj</a:t>
            </a:r>
            <a:r>
              <a:rPr lang="en-GB" sz="1600" dirty="0"/>
              <a:t> </a:t>
            </a:r>
            <a:r>
              <a:rPr lang="en-GB" sz="1600" dirty="0" err="1"/>
              <a:t>konkurenčne</a:t>
            </a:r>
            <a:endParaRPr lang="en-GB" sz="1600" dirty="0"/>
          </a:p>
          <a:p>
            <a:pPr marL="0" indent="0">
              <a:buNone/>
            </a:pPr>
            <a:r>
              <a:rPr lang="sl-SI" sz="1600" b="1" dirty="0"/>
              <a:t>Metoda</a:t>
            </a:r>
            <a:endParaRPr lang="en-GB" sz="1600" b="1" dirty="0"/>
          </a:p>
          <a:p>
            <a:r>
              <a:rPr lang="en-GB" sz="1600" dirty="0" err="1"/>
              <a:t>čiščenje</a:t>
            </a:r>
            <a:r>
              <a:rPr lang="en-GB" sz="1600" dirty="0"/>
              <a:t> </a:t>
            </a:r>
            <a:r>
              <a:rPr lang="en-GB" sz="1600" dirty="0" err="1"/>
              <a:t>podatkov</a:t>
            </a:r>
            <a:endParaRPr lang="sl-SI" sz="1600" dirty="0"/>
          </a:p>
          <a:p>
            <a:r>
              <a:rPr lang="en-GB" sz="1600" dirty="0" err="1"/>
              <a:t>osnovna</a:t>
            </a:r>
            <a:r>
              <a:rPr lang="en-GB" sz="1600" dirty="0"/>
              <a:t> </a:t>
            </a:r>
            <a:r>
              <a:rPr lang="en-GB" sz="1600" dirty="0" err="1"/>
              <a:t>statistična</a:t>
            </a:r>
            <a:r>
              <a:rPr lang="en-GB" sz="1600" dirty="0"/>
              <a:t> </a:t>
            </a:r>
            <a:r>
              <a:rPr lang="en-GB" sz="1600" dirty="0" err="1"/>
              <a:t>analiza</a:t>
            </a:r>
            <a:endParaRPr lang="en-GB" sz="1600" dirty="0"/>
          </a:p>
          <a:p>
            <a:pPr marL="0" indent="0">
              <a:buNone/>
            </a:pPr>
            <a:r>
              <a:rPr lang="sl-SI" sz="1600" b="1" dirty="0"/>
              <a:t>Rezultati</a:t>
            </a:r>
            <a:endParaRPr lang="en-GB" sz="1600" b="1" dirty="0"/>
          </a:p>
          <a:p>
            <a:r>
              <a:rPr lang="en-GB" sz="1600" dirty="0" err="1"/>
              <a:t>vidno</a:t>
            </a:r>
            <a:r>
              <a:rPr lang="en-GB" sz="1600" dirty="0"/>
              <a:t> je </a:t>
            </a:r>
            <a:r>
              <a:rPr lang="en-GB" sz="1600" dirty="0" err="1"/>
              <a:t>katere</a:t>
            </a:r>
            <a:r>
              <a:rPr lang="en-GB" sz="1600" dirty="0"/>
              <a:t> </a:t>
            </a:r>
            <a:r>
              <a:rPr lang="en-GB" sz="1600" dirty="0" err="1"/>
              <a:t>ekipe</a:t>
            </a:r>
            <a:r>
              <a:rPr lang="en-GB" sz="1600" dirty="0"/>
              <a:t> so </a:t>
            </a:r>
            <a:r>
              <a:rPr lang="en-GB" sz="1600" dirty="0" err="1"/>
              <a:t>bolj</a:t>
            </a:r>
            <a:r>
              <a:rPr lang="en-GB" sz="1600" dirty="0"/>
              <a:t> </a:t>
            </a:r>
            <a:r>
              <a:rPr lang="en-GB" sz="1600" dirty="0" err="1"/>
              <a:t>konkurenčne</a:t>
            </a:r>
            <a:endParaRPr lang="en-GB" sz="1600" dirty="0"/>
          </a:p>
          <a:p>
            <a:r>
              <a:rPr lang="en-GB" sz="1600" dirty="0" err="1"/>
              <a:t>čas</a:t>
            </a:r>
            <a:r>
              <a:rPr lang="en-GB" sz="1600" dirty="0"/>
              <a:t> </a:t>
            </a:r>
            <a:r>
              <a:rPr lang="en-GB" sz="1600" dirty="0" err="1"/>
              <a:t>povprečnega</a:t>
            </a:r>
            <a:r>
              <a:rPr lang="en-GB" sz="1600" dirty="0"/>
              <a:t> </a:t>
            </a:r>
            <a:r>
              <a:rPr lang="en-GB" sz="1600" dirty="0" err="1"/>
              <a:t>kroga</a:t>
            </a:r>
            <a:r>
              <a:rPr lang="en-GB" sz="1600" dirty="0"/>
              <a:t> glede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najboljšo</a:t>
            </a:r>
            <a:r>
              <a:rPr lang="en-GB" sz="1600" dirty="0"/>
              <a:t> </a:t>
            </a:r>
            <a:r>
              <a:rPr lang="en-GB" sz="1600" dirty="0" err="1"/>
              <a:t>ekipo</a:t>
            </a:r>
            <a:r>
              <a:rPr lang="en-GB" sz="1600" dirty="0"/>
              <a:t> </a:t>
            </a:r>
            <a:r>
              <a:rPr lang="en-GB" sz="1600" dirty="0" err="1"/>
              <a:t>ni</a:t>
            </a:r>
            <a:r>
              <a:rPr lang="en-GB" sz="1600" dirty="0"/>
              <a:t> </a:t>
            </a:r>
            <a:r>
              <a:rPr lang="en-GB" sz="1600" dirty="0" err="1"/>
              <a:t>točen</a:t>
            </a:r>
            <a:r>
              <a:rPr lang="en-GB" sz="1600" dirty="0"/>
              <a:t> </a:t>
            </a:r>
            <a:r>
              <a:rPr lang="en-GB" sz="1600" dirty="0" err="1"/>
              <a:t>pokazatelj</a:t>
            </a:r>
            <a:r>
              <a:rPr lang="en-GB" sz="1600" dirty="0"/>
              <a:t> </a:t>
            </a:r>
            <a:r>
              <a:rPr lang="en-GB" sz="1600" dirty="0" err="1"/>
              <a:t>končne</a:t>
            </a:r>
            <a:r>
              <a:rPr lang="en-GB" sz="1600" dirty="0"/>
              <a:t> </a:t>
            </a:r>
            <a:r>
              <a:rPr lang="en-GB" sz="1600" dirty="0" err="1"/>
              <a:t>uvrstitve</a:t>
            </a:r>
            <a:endParaRPr lang="en-US" sz="13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85B36-BD6E-413D-0EF1-D956158A6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6998495-D8A6-9308-A56F-34BD2FD0087D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91C58938-E051-7437-3631-6EF024B17D0E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2AB565F-9917-CFF1-52C4-BB66B41A173D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938F1D1-9D97-EE48-D6AC-CF5CC12ADD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29C160B-E70A-6ED5-F718-FCD419148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4595DD3-C8C9-C944-53BC-E328B778E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386" y="2409952"/>
            <a:ext cx="3686197" cy="22863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99BEAE2-8195-8A2A-A453-A713C8032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962" y="356232"/>
            <a:ext cx="4046621" cy="202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395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b="1" dirty="0" err="1"/>
              <a:t>Kvalifikacije</a:t>
            </a:r>
            <a:r>
              <a:rPr lang="en-US" sz="1600" b="1" dirty="0"/>
              <a:t>, </a:t>
            </a:r>
            <a:r>
              <a:rPr lang="en-US" sz="1600" b="1" dirty="0" err="1"/>
              <a:t>ravnine</a:t>
            </a:r>
            <a:r>
              <a:rPr lang="en-US" sz="1600" b="1" dirty="0"/>
              <a:t> in </a:t>
            </a:r>
            <a:r>
              <a:rPr lang="en-US" sz="1600" b="1" dirty="0" err="1"/>
              <a:t>ovinki</a:t>
            </a:r>
            <a:endParaRPr lang="sl-SI" sz="1600" b="1" dirty="0"/>
          </a:p>
          <a:p>
            <a:pPr marL="0" indent="0">
              <a:buNone/>
            </a:pPr>
            <a:r>
              <a:rPr lang="sl-SI" sz="1600" b="1" dirty="0"/>
              <a:t> Cilj</a:t>
            </a:r>
          </a:p>
          <a:p>
            <a:pPr marL="0" indent="0">
              <a:buNone/>
            </a:pPr>
            <a:r>
              <a:rPr lang="sl-SI" sz="1600" dirty="0"/>
              <a:t>  - povezava med štartnim položajem in končno uvrstitvijo</a:t>
            </a:r>
          </a:p>
          <a:p>
            <a:pPr marL="0" indent="0">
              <a:buNone/>
            </a:pPr>
            <a:r>
              <a:rPr lang="sl-SI" sz="1600" dirty="0"/>
              <a:t>  - primerjava hitrosti na ravninah in učinkovitosti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sl-SI" sz="1600" b="1" dirty="0"/>
              <a:t>Metoda</a:t>
            </a:r>
          </a:p>
          <a:p>
            <a:pPr marL="0" indent="0">
              <a:buNone/>
            </a:pPr>
            <a:r>
              <a:rPr lang="sl-SI" sz="1600" dirty="0"/>
              <a:t>  - FastF1 podatki za sezono 2025</a:t>
            </a:r>
          </a:p>
          <a:p>
            <a:pPr marL="0" indent="0">
              <a:buNone/>
            </a:pPr>
            <a:r>
              <a:rPr lang="sl-SI" sz="1600" dirty="0"/>
              <a:t>  - Spearmanova/Pearsonova korelacija</a:t>
            </a:r>
          </a:p>
          <a:p>
            <a:pPr marL="0" indent="0">
              <a:buNone/>
            </a:pPr>
            <a:r>
              <a:rPr lang="sl-SI" sz="1600" dirty="0"/>
              <a:t>  - SpeedST za ravnine, telemetrija za hitrosti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</a:t>
            </a:r>
            <a:r>
              <a:rPr lang="sl-SI" sz="1600" b="1" dirty="0"/>
              <a:t> Rezultati</a:t>
            </a:r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el-GR" sz="1600" dirty="0"/>
              <a:t>- </a:t>
            </a:r>
            <a:r>
              <a:rPr lang="sl-SI" sz="1600" dirty="0"/>
              <a:t>sezonsko povprečje povezave kvalifikacije → </a:t>
            </a:r>
            <a:r>
              <a:rPr lang="el-GR" sz="1600" dirty="0"/>
              <a:t>ρ ≈ 0.65</a:t>
            </a:r>
          </a:p>
          <a:p>
            <a:pPr marL="0" indent="0">
              <a:buNone/>
            </a:pPr>
            <a:r>
              <a:rPr lang="el-GR" sz="1600" dirty="0"/>
              <a:t>  - </a:t>
            </a:r>
            <a:r>
              <a:rPr lang="sl-SI" sz="1600" dirty="0"/>
              <a:t>ovinki so bili močnejši signal za rezultat na 20 od 24 dirk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4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274FA9-F36E-8929-8502-000590875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738" y="454816"/>
            <a:ext cx="3260761" cy="2247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B58BB6-D3AE-322E-B5DE-1AFDED65C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590" y="2702292"/>
            <a:ext cx="3476594" cy="238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27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2593285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povprečnih</a:t>
            </a:r>
            <a:r>
              <a:rPr lang="en-US" sz="1600" b="1" dirty="0"/>
              <a:t> </a:t>
            </a:r>
            <a:r>
              <a:rPr lang="en-US" sz="1600" b="1" dirty="0" err="1"/>
              <a:t>krogov</a:t>
            </a:r>
            <a:r>
              <a:rPr lang="en-US" sz="1600" b="1" dirty="0"/>
              <a:t> v </a:t>
            </a:r>
            <a:r>
              <a:rPr lang="en-US" sz="1600" b="1" dirty="0" err="1"/>
              <a:t>deževnih</a:t>
            </a:r>
            <a:r>
              <a:rPr lang="en-US" sz="1600" b="1" dirty="0"/>
              <a:t> </a:t>
            </a:r>
            <a:r>
              <a:rPr lang="en-US" sz="1600" b="1" dirty="0" err="1"/>
              <a:t>razmerah</a:t>
            </a:r>
            <a:r>
              <a:rPr lang="en-US" sz="1600" b="1" dirty="0"/>
              <a:t>:</a:t>
            </a:r>
          </a:p>
          <a:p>
            <a:pPr>
              <a:buFontTx/>
              <a:buChar char="-"/>
            </a:pPr>
            <a:r>
              <a:rPr lang="en-US" sz="1600" dirty="0" err="1"/>
              <a:t>Zberemo</a:t>
            </a:r>
            <a:r>
              <a:rPr lang="en-US" sz="1600" dirty="0"/>
              <a:t> </a:t>
            </a:r>
            <a:r>
              <a:rPr lang="en-US" sz="1600" dirty="0" err="1"/>
              <a:t>vse</a:t>
            </a:r>
            <a:r>
              <a:rPr lang="en-US" sz="1600" dirty="0"/>
              <a:t> </a:t>
            </a:r>
            <a:r>
              <a:rPr lang="en-US" sz="1600" dirty="0" err="1"/>
              <a:t>kroge</a:t>
            </a:r>
            <a:r>
              <a:rPr lang="en-US" sz="1600" dirty="0"/>
              <a:t> v </a:t>
            </a:r>
            <a:r>
              <a:rPr lang="en-US" sz="1600" dirty="0" err="1"/>
              <a:t>deževnih</a:t>
            </a:r>
            <a:r>
              <a:rPr lang="en-US" sz="1600" dirty="0"/>
              <a:t> </a:t>
            </a:r>
            <a:r>
              <a:rPr lang="en-US" sz="1600" dirty="0" err="1"/>
              <a:t>razmerah</a:t>
            </a:r>
            <a:r>
              <a:rPr lang="en-US" sz="1600" dirty="0"/>
              <a:t> in </a:t>
            </a:r>
            <a:r>
              <a:rPr lang="en-US" sz="1600" dirty="0" err="1"/>
              <a:t>pridobimo</a:t>
            </a:r>
            <a:r>
              <a:rPr lang="en-US" sz="1600" dirty="0"/>
              <a:t> </a:t>
            </a:r>
            <a:r>
              <a:rPr lang="en-US" sz="1600" dirty="0" err="1"/>
              <a:t>povprečje</a:t>
            </a:r>
            <a:r>
              <a:rPr lang="en-US" sz="1600" dirty="0"/>
              <a:t> za </a:t>
            </a:r>
            <a:r>
              <a:rPr lang="en-US" sz="1600" dirty="0" err="1"/>
              <a:t>vsakega</a:t>
            </a:r>
            <a:r>
              <a:rPr lang="en-US" sz="1600" dirty="0"/>
              <a:t> </a:t>
            </a:r>
            <a:r>
              <a:rPr lang="en-US" sz="1600" dirty="0" err="1"/>
              <a:t>voznika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Vsaj</a:t>
            </a:r>
            <a:r>
              <a:rPr lang="en-US" sz="1600" dirty="0"/>
              <a:t> 50 </a:t>
            </a:r>
            <a:r>
              <a:rPr lang="en-US" sz="1600" dirty="0" err="1"/>
              <a:t>takšnih</a:t>
            </a:r>
            <a:r>
              <a:rPr lang="en-US" sz="1600" dirty="0"/>
              <a:t> </a:t>
            </a:r>
            <a:r>
              <a:rPr lang="en-US" sz="1600" dirty="0" err="1"/>
              <a:t>krogov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Št</a:t>
            </a:r>
            <a:r>
              <a:rPr lang="en-US" sz="1600" dirty="0"/>
              <a:t>. </a:t>
            </a:r>
            <a:r>
              <a:rPr lang="en-US" sz="1600" dirty="0" err="1"/>
              <a:t>pridobljenih</a:t>
            </a:r>
            <a:r>
              <a:rPr lang="en-US" sz="1600" dirty="0"/>
              <a:t> </a:t>
            </a:r>
            <a:r>
              <a:rPr lang="en-US" sz="1600" dirty="0" err="1"/>
              <a:t>točk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takih</a:t>
            </a:r>
            <a:r>
              <a:rPr lang="en-US" sz="1600" dirty="0"/>
              <a:t> </a:t>
            </a:r>
            <a:r>
              <a:rPr lang="en-US" sz="1600" dirty="0" err="1"/>
              <a:t>dirkah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časov</a:t>
            </a:r>
            <a:r>
              <a:rPr lang="en-US" sz="1600" b="1" dirty="0"/>
              <a:t> glede </a:t>
            </a:r>
            <a:r>
              <a:rPr lang="en-US" sz="1600" b="1" dirty="0" err="1"/>
              <a:t>na</a:t>
            </a:r>
            <a:r>
              <a:rPr lang="en-US" sz="1600" b="1" dirty="0"/>
              <a:t> </a:t>
            </a:r>
            <a:r>
              <a:rPr lang="en-US" sz="1600" b="1" dirty="0" err="1"/>
              <a:t>vremenske</a:t>
            </a:r>
            <a:r>
              <a:rPr lang="en-US" sz="1600" b="1" dirty="0"/>
              <a:t> </a:t>
            </a:r>
            <a:r>
              <a:rPr lang="en-US" sz="1600" b="1" dirty="0" err="1"/>
              <a:t>razmere</a:t>
            </a:r>
            <a:r>
              <a:rPr lang="en-US" sz="1600" b="1" dirty="0"/>
              <a:t>:</a:t>
            </a:r>
          </a:p>
          <a:p>
            <a:pPr>
              <a:buFontTx/>
              <a:buChar char="-"/>
            </a:pPr>
            <a:r>
              <a:rPr lang="en-US" sz="1600" dirty="0"/>
              <a:t>Modro: </a:t>
            </a:r>
            <a:r>
              <a:rPr lang="en-US" sz="1600" dirty="0" err="1"/>
              <a:t>deževne</a:t>
            </a:r>
            <a:r>
              <a:rPr lang="en-US" sz="1600" dirty="0"/>
              <a:t> </a:t>
            </a:r>
            <a:r>
              <a:rPr lang="en-US" sz="1600" dirty="0" err="1"/>
              <a:t>razmere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Oranžno</a:t>
            </a:r>
            <a:r>
              <a:rPr lang="en-US" sz="1600" dirty="0"/>
              <a:t>: </a:t>
            </a:r>
            <a:r>
              <a:rPr lang="en-US" sz="1600" dirty="0" err="1"/>
              <a:t>suhe</a:t>
            </a:r>
            <a:r>
              <a:rPr lang="en-US" sz="1600" dirty="0"/>
              <a:t> </a:t>
            </a:r>
            <a:r>
              <a:rPr lang="en-US" sz="1600" dirty="0" err="1"/>
              <a:t>razmere</a:t>
            </a:r>
            <a:endParaRPr lang="en-US" sz="1600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874818" y="589356"/>
            <a:ext cx="6176416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5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4480408-0ED4-160C-7011-FFC62E935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982" y="589356"/>
            <a:ext cx="3388759" cy="16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04D9FE6-6FDB-0A36-D738-9368464E3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0608" y="2285423"/>
            <a:ext cx="3391133" cy="16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954F1ED-D85C-728D-037A-7A77A31D5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2974" y="585787"/>
            <a:ext cx="3314643" cy="164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7539519-194B-EB23-E947-D825AE111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6270" y="2270793"/>
            <a:ext cx="3447730" cy="17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98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</TotalTime>
  <Words>395</Words>
  <Application>Microsoft Office PowerPoint</Application>
  <PresentationFormat>On-screen Show (16:9)</PresentationFormat>
  <Paragraphs>82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Analiza dirk Formule 1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/>
  <cp:keywords/>
  <dc:description/>
  <cp:lastModifiedBy>Hafner, Mark</cp:lastModifiedBy>
  <cp:revision>36</cp:revision>
  <dcterms:created xsi:type="dcterms:W3CDTF">2020-04-03T06:53:29Z</dcterms:created>
  <dcterms:modified xsi:type="dcterms:W3CDTF">2026-04-15T05:56:40Z</dcterms:modified>
  <cp:category/>
</cp:coreProperties>
</file>