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7"/>
  </p:notesMasterIdLst>
  <p:handoutMasterIdLst>
    <p:handoutMasterId r:id="rId8"/>
  </p:handoutMasterIdLst>
  <p:sldIdLst>
    <p:sldId id="256" r:id="rId2"/>
    <p:sldId id="258" r:id="rId3"/>
    <p:sldId id="261" r:id="rId4"/>
    <p:sldId id="260" r:id="rId5"/>
    <p:sldId id="259" r:id="rId6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044"/>
    <p:restoredTop sz="94694"/>
  </p:normalViewPr>
  <p:slideViewPr>
    <p:cSldViewPr snapToGrid="0" snapToObjects="1">
      <p:cViewPr varScale="1">
        <p:scale>
          <a:sx n="138" d="100"/>
          <a:sy n="138" d="100"/>
        </p:scale>
        <p:origin x="924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handoutMaster" Target="handoutMasters/handoutMaster1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4BDD3D8B-F941-7A44-B495-413DB63A30E5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r>
              <a:rPr lang="en-US"/>
              <a:t>PR, 2019-2020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F2B23EC-11DF-5B40-9B28-3E40FA681CA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B1B7431-2289-5947-8194-0CFC384CFC98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4D1D374-B28A-3D41-A294-73C33793DBA3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A59AA9A-0116-BE47-8880-25F32F2DBD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978899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r>
              <a:rPr lang="en-US"/>
              <a:t>PR, 2019-2020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3847C52-DF7F-F947-B704-F0BAD17B1E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0713933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1pPr>
    <a:lvl2pPr marL="3429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2pPr>
    <a:lvl3pPr marL="6858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3pPr>
    <a:lvl4pPr marL="10287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4pPr>
    <a:lvl5pPr marL="13716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5pPr>
    <a:lvl6pPr marL="17145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6pPr>
    <a:lvl7pPr marL="20574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7pPr>
    <a:lvl8pPr marL="24003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8pPr>
    <a:lvl9pPr marL="27432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82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6. 4. 2020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PR19-20, Vmesna predstavitev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BC8BC1-971C-5C4D-898D-87CE7EF1EB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55260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6. 4. 2020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PR19-20, Vmesna predstavitev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BC8BC1-971C-5C4D-898D-87CE7EF1EB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55731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282304"/>
            <a:ext cx="7886700" cy="2139553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3442098"/>
            <a:ext cx="7886700" cy="1125140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6. 4. 2020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PR19-20, Vmesna predstavitev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BC8BC1-971C-5C4D-898D-87CE7EF1EB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52822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369219"/>
            <a:ext cx="3886200" cy="32635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369219"/>
            <a:ext cx="3886200" cy="32635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6. 4. 2020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PR19-20, Vmesna predstavitev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BC8BC1-971C-5C4D-898D-87CE7EF1EB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13939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273844"/>
            <a:ext cx="7886700" cy="99417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260872"/>
            <a:ext cx="3868340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1878806"/>
            <a:ext cx="3868340" cy="276344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260872"/>
            <a:ext cx="3887391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1878806"/>
            <a:ext cx="3887391" cy="276344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6. 4. 2020</a:t>
            </a: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PR19-20, Vmesna predstavitev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BC8BC1-971C-5C4D-898D-87CE7EF1EB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44378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6. 4. 2020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PR19-20, Vmesna predstavitev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BC8BC1-971C-5C4D-898D-87CE7EF1EB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95881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6. 4. 2020</a:t>
            </a: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PR19-20, Vmesna predstavitev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BC8BC1-971C-5C4D-898D-87CE7EF1EB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78515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740569"/>
            <a:ext cx="4629150" cy="3655219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6. 4. 2020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PR19-20, Vmesna predstavitev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BC8BC1-971C-5C4D-898D-87CE7EF1EB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23686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740569"/>
            <a:ext cx="4629150" cy="3655219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6. 4. 2020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PR19-20, Vmesna predstavitev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BC8BC1-971C-5C4D-898D-87CE7EF1EB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44008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6. 4. 2020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PR19-20, Vmesna predstavitev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BC8BC1-971C-5C4D-898D-87CE7EF1EB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4472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273844"/>
            <a:ext cx="1971675" cy="4358879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273844"/>
            <a:ext cx="5800725" cy="435887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6. 4. 2020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PR19-20, Vmesna predstavitev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BC8BC1-971C-5C4D-898D-87CE7EF1EB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98919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6. 4. 2020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PR19-20, Vmesna predstavitev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3BC8BC1-971C-5C4D-898D-87CE7EF1EB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36925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fastf1.dev/" TargetMode="External"/><Relationship Id="rId1" Type="http://schemas.openxmlformats.org/officeDocument/2006/relationships/slideLayout" Target="../slideLayouts/slideLayout8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89C146EC-635D-434E-871A-999618A619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857" y="73152"/>
            <a:ext cx="2300583" cy="2228849"/>
          </a:xfrm>
          <a:ln>
            <a:solidFill>
              <a:schemeClr val="tx1"/>
            </a:solidFill>
          </a:ln>
        </p:spPr>
        <p:txBody>
          <a:bodyPr anchor="t">
            <a:normAutofit/>
          </a:bodyPr>
          <a:lstStyle/>
          <a:p>
            <a:r>
              <a:rPr lang="en-GB" b="1" dirty="0"/>
              <a:t>Analiza dirk </a:t>
            </a:r>
            <a:r>
              <a:rPr lang="en-GB" b="1" dirty="0" err="1"/>
              <a:t>Formule</a:t>
            </a:r>
            <a:r>
              <a:rPr lang="en-GB" b="1" dirty="0"/>
              <a:t> 1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ECFDA8A2-4269-E344-ADF2-94E0D83050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56953" y="73152"/>
            <a:ext cx="6610190" cy="4727448"/>
          </a:xfrm>
          <a:ln>
            <a:solidFill>
              <a:schemeClr val="tx1"/>
            </a:solidFill>
          </a:ln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sz="1600" b="1" dirty="0" err="1"/>
              <a:t>Podatki</a:t>
            </a:r>
            <a:endParaRPr lang="en-US" sz="1600" b="1" dirty="0"/>
          </a:p>
          <a:p>
            <a:pPr>
              <a:buFontTx/>
              <a:buChar char="-"/>
            </a:pPr>
            <a:r>
              <a:rPr lang="en-US" sz="1600" dirty="0" err="1"/>
              <a:t>Knjižnica</a:t>
            </a:r>
            <a:r>
              <a:rPr lang="en-US" sz="1600" dirty="0"/>
              <a:t> </a:t>
            </a:r>
            <a:r>
              <a:rPr lang="en-US" sz="1600" dirty="0">
                <a:hlinkClick r:id="rId2"/>
              </a:rPr>
              <a:t>FastF1</a:t>
            </a:r>
            <a:endParaRPr lang="en-US" sz="1600" dirty="0"/>
          </a:p>
          <a:p>
            <a:pPr>
              <a:buFontTx/>
              <a:buChar char="-"/>
            </a:pPr>
            <a:r>
              <a:rPr lang="en-US" sz="1600" dirty="0" err="1"/>
              <a:t>Najobsežnejši</a:t>
            </a:r>
            <a:r>
              <a:rPr lang="en-US" sz="1600" dirty="0"/>
              <a:t> </a:t>
            </a:r>
            <a:r>
              <a:rPr lang="en-US" sz="1600" dirty="0" err="1"/>
              <a:t>javno</a:t>
            </a:r>
            <a:r>
              <a:rPr lang="en-US" sz="1600" dirty="0"/>
              <a:t> </a:t>
            </a:r>
            <a:r>
              <a:rPr lang="en-US" sz="1600" dirty="0" err="1"/>
              <a:t>dostopni</a:t>
            </a:r>
            <a:r>
              <a:rPr lang="en-US" sz="1600" dirty="0"/>
              <a:t> </a:t>
            </a:r>
            <a:r>
              <a:rPr lang="en-US" sz="1600" dirty="0" err="1"/>
              <a:t>podatki</a:t>
            </a:r>
            <a:r>
              <a:rPr lang="en-US" sz="1600" dirty="0"/>
              <a:t> dirk </a:t>
            </a:r>
            <a:r>
              <a:rPr lang="en-US" sz="1600" dirty="0" err="1"/>
              <a:t>Formule</a:t>
            </a:r>
            <a:r>
              <a:rPr lang="en-US" sz="1600" dirty="0"/>
              <a:t> 1</a:t>
            </a:r>
          </a:p>
          <a:p>
            <a:pPr>
              <a:buFontTx/>
              <a:buChar char="-"/>
            </a:pPr>
            <a:r>
              <a:rPr lang="en-GB" sz="1600" dirty="0" err="1"/>
              <a:t>Meritve</a:t>
            </a:r>
            <a:r>
              <a:rPr lang="en-GB" sz="1600" dirty="0"/>
              <a:t>, </a:t>
            </a:r>
            <a:r>
              <a:rPr lang="en-GB" sz="1600" dirty="0" err="1"/>
              <a:t>statistike</a:t>
            </a:r>
            <a:r>
              <a:rPr lang="en-GB" sz="1600" dirty="0"/>
              <a:t>, </a:t>
            </a:r>
            <a:r>
              <a:rPr lang="en-GB" sz="1600" dirty="0" err="1"/>
              <a:t>časovne</a:t>
            </a:r>
            <a:r>
              <a:rPr lang="en-GB" sz="1600" dirty="0"/>
              <a:t> </a:t>
            </a:r>
            <a:r>
              <a:rPr lang="en-GB" sz="1600" dirty="0" err="1"/>
              <a:t>serije</a:t>
            </a:r>
            <a:r>
              <a:rPr lang="en-GB" sz="1600" dirty="0"/>
              <a:t>; </a:t>
            </a:r>
            <a:r>
              <a:rPr lang="en-GB" sz="1600" dirty="0" err="1"/>
              <a:t>tisoči</a:t>
            </a:r>
            <a:r>
              <a:rPr lang="en-GB" sz="1600" dirty="0"/>
              <a:t> </a:t>
            </a:r>
            <a:r>
              <a:rPr lang="en-GB" sz="1600" dirty="0" err="1"/>
              <a:t>primerov</a:t>
            </a:r>
            <a:r>
              <a:rPr lang="en-GB" sz="1600" dirty="0"/>
              <a:t> </a:t>
            </a:r>
            <a:r>
              <a:rPr lang="en-GB" sz="1600" dirty="0" err="1"/>
              <a:t>na</a:t>
            </a:r>
            <a:r>
              <a:rPr lang="en-GB" sz="1600" dirty="0"/>
              <a:t> </a:t>
            </a:r>
            <a:r>
              <a:rPr lang="en-GB" sz="1600" dirty="0" err="1"/>
              <a:t>dirko</a:t>
            </a:r>
            <a:r>
              <a:rPr lang="en-GB" sz="1600" dirty="0"/>
              <a:t>, 10–100 </a:t>
            </a:r>
            <a:r>
              <a:rPr lang="en-GB" sz="1600" dirty="0" err="1"/>
              <a:t>atributov</a:t>
            </a:r>
            <a:r>
              <a:rPr lang="en-GB" sz="1600" dirty="0"/>
              <a:t>, </a:t>
            </a:r>
            <a:r>
              <a:rPr lang="en-GB" sz="1600" dirty="0" err="1"/>
              <a:t>več</a:t>
            </a:r>
            <a:r>
              <a:rPr lang="en-GB" sz="1600" dirty="0"/>
              <a:t> </a:t>
            </a:r>
            <a:r>
              <a:rPr lang="en-GB" sz="1600" dirty="0" err="1"/>
              <a:t>razredov</a:t>
            </a:r>
            <a:r>
              <a:rPr lang="en-GB" sz="1600" dirty="0"/>
              <a:t> (</a:t>
            </a:r>
            <a:r>
              <a:rPr lang="en-GB" sz="1600" dirty="0" err="1"/>
              <a:t>vozniki</a:t>
            </a:r>
            <a:r>
              <a:rPr lang="en-GB" sz="1600" dirty="0"/>
              <a:t>, </a:t>
            </a:r>
            <a:r>
              <a:rPr lang="en-GB" sz="1600" dirty="0" err="1"/>
              <a:t>ekipe</a:t>
            </a:r>
            <a:r>
              <a:rPr lang="en-GB" sz="1600" dirty="0"/>
              <a:t>, </a:t>
            </a:r>
            <a:r>
              <a:rPr lang="en-GB" sz="1600" dirty="0" err="1"/>
              <a:t>pnevmatike</a:t>
            </a:r>
            <a:r>
              <a:rPr lang="en-GB" sz="1600" dirty="0"/>
              <a:t>)</a:t>
            </a:r>
          </a:p>
          <a:p>
            <a:pPr>
              <a:buFontTx/>
              <a:buChar char="-"/>
            </a:pPr>
            <a:r>
              <a:rPr lang="en-US" sz="1600" dirty="0"/>
              <a:t>Veliko </a:t>
            </a:r>
            <a:r>
              <a:rPr lang="en-US" sz="1600" dirty="0" err="1"/>
              <a:t>manjkajočih</a:t>
            </a:r>
            <a:r>
              <a:rPr lang="en-US" sz="1600" dirty="0"/>
              <a:t> in </a:t>
            </a:r>
            <a:r>
              <a:rPr lang="en-US" sz="1600" dirty="0" err="1"/>
              <a:t>nekaj</a:t>
            </a:r>
            <a:r>
              <a:rPr lang="en-US" sz="1600" dirty="0"/>
              <a:t> </a:t>
            </a:r>
            <a:r>
              <a:rPr lang="en-US" sz="1600" dirty="0" err="1"/>
              <a:t>napačnih</a:t>
            </a:r>
            <a:r>
              <a:rPr lang="en-US" sz="1600" dirty="0"/>
              <a:t> </a:t>
            </a:r>
            <a:r>
              <a:rPr lang="en-US" sz="1600" dirty="0" err="1"/>
              <a:t>podatkov</a:t>
            </a:r>
            <a:endParaRPr lang="en-US" sz="1600" dirty="0"/>
          </a:p>
          <a:p>
            <a:pPr>
              <a:buFontTx/>
              <a:buChar char="-"/>
            </a:pPr>
            <a:r>
              <a:rPr lang="en-US" sz="1600" dirty="0" err="1"/>
              <a:t>Prenos</a:t>
            </a:r>
            <a:r>
              <a:rPr lang="en-US" sz="1600" dirty="0"/>
              <a:t> </a:t>
            </a:r>
            <a:r>
              <a:rPr lang="en-US" sz="1600" dirty="0" err="1"/>
              <a:t>podatkov</a:t>
            </a:r>
            <a:r>
              <a:rPr lang="en-US" sz="1600" dirty="0"/>
              <a:t>, </a:t>
            </a:r>
            <a:r>
              <a:rPr lang="en-US" sz="1600" dirty="0" err="1"/>
              <a:t>filtriranje</a:t>
            </a:r>
            <a:r>
              <a:rPr lang="en-US" sz="1600" dirty="0"/>
              <a:t> (le </a:t>
            </a:r>
            <a:r>
              <a:rPr lang="en-US" sz="1600" dirty="0" err="1"/>
              <a:t>uporabni</a:t>
            </a:r>
            <a:r>
              <a:rPr lang="en-US" sz="1600" dirty="0"/>
              <a:t> </a:t>
            </a:r>
            <a:r>
              <a:rPr lang="en-US" sz="1600" dirty="0" err="1"/>
              <a:t>krogi</a:t>
            </a:r>
            <a:r>
              <a:rPr lang="en-US" sz="1600" dirty="0"/>
              <a:t>), </a:t>
            </a:r>
            <a:r>
              <a:rPr lang="en-US" sz="1600" dirty="0" err="1"/>
              <a:t>združevanje</a:t>
            </a:r>
            <a:r>
              <a:rPr lang="en-US" sz="1600" dirty="0"/>
              <a:t> (po </a:t>
            </a:r>
            <a:r>
              <a:rPr lang="en-US" sz="1600" dirty="0" err="1"/>
              <a:t>ekipah</a:t>
            </a:r>
            <a:r>
              <a:rPr lang="en-US" sz="1600" dirty="0"/>
              <a:t>, </a:t>
            </a:r>
            <a:r>
              <a:rPr lang="en-US" sz="1600" dirty="0" err="1"/>
              <a:t>voznikih</a:t>
            </a:r>
            <a:r>
              <a:rPr lang="en-US" sz="1600" dirty="0"/>
              <a:t>, </a:t>
            </a:r>
            <a:r>
              <a:rPr lang="en-US" sz="1600" dirty="0" err="1"/>
              <a:t>progah</a:t>
            </a:r>
            <a:r>
              <a:rPr lang="en-US" sz="1600" dirty="0"/>
              <a:t>, …)</a:t>
            </a:r>
          </a:p>
          <a:p>
            <a:pPr>
              <a:buFontTx/>
              <a:buChar char="-"/>
            </a:pPr>
            <a:endParaRPr lang="en-US" sz="1600" dirty="0"/>
          </a:p>
          <a:p>
            <a:pPr marL="0" indent="0">
              <a:buNone/>
            </a:pPr>
            <a:r>
              <a:rPr lang="en-US" sz="1600" b="1" dirty="0" err="1"/>
              <a:t>Glavna</a:t>
            </a:r>
            <a:r>
              <a:rPr lang="en-US" sz="1600" b="1" dirty="0"/>
              <a:t> </a:t>
            </a:r>
            <a:r>
              <a:rPr lang="en-US" sz="1600" b="1" dirty="0" err="1"/>
              <a:t>vprašanja</a:t>
            </a:r>
            <a:r>
              <a:rPr lang="en-US" sz="1600" b="1" dirty="0"/>
              <a:t>/</a:t>
            </a:r>
            <a:r>
              <a:rPr lang="en-US" sz="1600" b="1" dirty="0" err="1"/>
              <a:t>cilji</a:t>
            </a:r>
            <a:r>
              <a:rPr lang="en-US" sz="1600" b="1" dirty="0"/>
              <a:t> </a:t>
            </a:r>
            <a:r>
              <a:rPr lang="en-US" sz="1600" b="1" dirty="0" err="1"/>
              <a:t>podatkovnega</a:t>
            </a:r>
            <a:r>
              <a:rPr lang="en-US" sz="1600" b="1" dirty="0"/>
              <a:t> </a:t>
            </a:r>
            <a:r>
              <a:rPr lang="en-US" sz="1600" b="1" dirty="0" err="1"/>
              <a:t>rudarjenja</a:t>
            </a:r>
            <a:endParaRPr lang="en-US" sz="1600" b="1" dirty="0"/>
          </a:p>
          <a:p>
            <a:pPr>
              <a:buFontTx/>
              <a:buChar char="-"/>
            </a:pPr>
            <a:r>
              <a:rPr lang="en-US" sz="1600" dirty="0" err="1"/>
              <a:t>Degradacija</a:t>
            </a:r>
            <a:r>
              <a:rPr lang="en-US" sz="1600" dirty="0"/>
              <a:t> gum</a:t>
            </a:r>
          </a:p>
          <a:p>
            <a:pPr>
              <a:buFontTx/>
              <a:buChar char="-"/>
            </a:pPr>
            <a:r>
              <a:rPr lang="en-US" sz="1600" dirty="0" err="1"/>
              <a:t>Vpliv</a:t>
            </a:r>
            <a:r>
              <a:rPr lang="en-US" sz="1600" dirty="0"/>
              <a:t> </a:t>
            </a:r>
            <a:r>
              <a:rPr lang="en-US" sz="1600" dirty="0" err="1"/>
              <a:t>vremena</a:t>
            </a:r>
            <a:r>
              <a:rPr lang="en-US" sz="1600" dirty="0"/>
              <a:t> </a:t>
            </a:r>
            <a:r>
              <a:rPr lang="en-US" sz="1600" dirty="0" err="1"/>
              <a:t>na</a:t>
            </a:r>
            <a:r>
              <a:rPr lang="en-US" sz="1600" dirty="0"/>
              <a:t> </a:t>
            </a:r>
            <a:r>
              <a:rPr lang="en-US" sz="1600" dirty="0" err="1"/>
              <a:t>razultate</a:t>
            </a:r>
            <a:endParaRPr lang="en-US" sz="1600" dirty="0"/>
          </a:p>
          <a:p>
            <a:pPr>
              <a:buFontTx/>
              <a:buChar char="-"/>
            </a:pPr>
            <a:r>
              <a:rPr lang="en-US" sz="1600" dirty="0" err="1"/>
              <a:t>Uvrstitev</a:t>
            </a:r>
            <a:r>
              <a:rPr lang="en-US" sz="1600" dirty="0"/>
              <a:t> </a:t>
            </a:r>
            <a:r>
              <a:rPr lang="en-US" sz="1600" dirty="0" err="1"/>
              <a:t>na</a:t>
            </a:r>
            <a:r>
              <a:rPr lang="en-US" sz="1600" dirty="0"/>
              <a:t> </a:t>
            </a:r>
            <a:r>
              <a:rPr lang="en-US" sz="1600" dirty="0" err="1"/>
              <a:t>kvalifikacijah</a:t>
            </a:r>
            <a:r>
              <a:rPr lang="en-US" sz="1600" dirty="0"/>
              <a:t> in </a:t>
            </a:r>
            <a:r>
              <a:rPr lang="en-US" sz="1600" dirty="0" err="1"/>
              <a:t>dirki</a:t>
            </a:r>
            <a:endParaRPr lang="en-US" sz="1600" dirty="0"/>
          </a:p>
          <a:p>
            <a:pPr>
              <a:buFontTx/>
              <a:buChar char="-"/>
            </a:pPr>
            <a:r>
              <a:rPr lang="en-US" sz="1600" dirty="0" err="1"/>
              <a:t>Primerjave</a:t>
            </a:r>
            <a:r>
              <a:rPr lang="en-US" sz="1600" dirty="0"/>
              <a:t> </a:t>
            </a:r>
            <a:r>
              <a:rPr lang="en-US" sz="1600" dirty="0" err="1"/>
              <a:t>ravninske</a:t>
            </a:r>
            <a:r>
              <a:rPr lang="en-US" sz="1600" dirty="0"/>
              <a:t> </a:t>
            </a:r>
            <a:r>
              <a:rPr lang="en-US" sz="1600" dirty="0" err="1"/>
              <a:t>hitrosti</a:t>
            </a:r>
            <a:r>
              <a:rPr lang="en-US" sz="1600" dirty="0"/>
              <a:t> </a:t>
            </a:r>
            <a:r>
              <a:rPr lang="en-US" sz="1600" dirty="0" err="1"/>
              <a:t>proti</a:t>
            </a:r>
            <a:r>
              <a:rPr lang="en-US" sz="1600" dirty="0"/>
              <a:t> </a:t>
            </a:r>
            <a:r>
              <a:rPr lang="en-US" sz="1600" dirty="0" err="1"/>
              <a:t>hitrosti</a:t>
            </a:r>
            <a:r>
              <a:rPr lang="en-US" sz="1600" dirty="0"/>
              <a:t> v </a:t>
            </a:r>
            <a:r>
              <a:rPr lang="en-US" sz="1600" dirty="0" err="1"/>
              <a:t>ovinkih</a:t>
            </a:r>
            <a:endParaRPr lang="en-US" sz="1600" dirty="0"/>
          </a:p>
          <a:p>
            <a:pPr>
              <a:buFontTx/>
              <a:buChar char="-"/>
            </a:pPr>
            <a:r>
              <a:rPr lang="en-US" sz="1600" dirty="0" err="1"/>
              <a:t>Primerjave</a:t>
            </a:r>
            <a:r>
              <a:rPr lang="en-US" sz="1600" dirty="0"/>
              <a:t> </a:t>
            </a:r>
            <a:r>
              <a:rPr lang="en-US" sz="1600" dirty="0" err="1"/>
              <a:t>proizvajalcev</a:t>
            </a:r>
            <a:endParaRPr lang="en-US" sz="1600" dirty="0"/>
          </a:p>
          <a:p>
            <a:pPr>
              <a:buFontTx/>
              <a:buChar char="-"/>
            </a:pPr>
            <a:r>
              <a:rPr lang="en-US" sz="1600" dirty="0" err="1"/>
              <a:t>Napoved</a:t>
            </a:r>
            <a:r>
              <a:rPr lang="en-US" sz="1600" dirty="0"/>
              <a:t> </a:t>
            </a:r>
            <a:r>
              <a:rPr lang="en-US" sz="1600" dirty="0" err="1"/>
              <a:t>zmagovalca</a:t>
            </a:r>
            <a:r>
              <a:rPr lang="en-US" sz="1600" dirty="0"/>
              <a:t> </a:t>
            </a:r>
            <a:r>
              <a:rPr lang="en-US" sz="1600" dirty="0" err="1"/>
              <a:t>sezone</a:t>
            </a:r>
            <a:endParaRPr lang="en-US" sz="1600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6AC06591-6F1C-3D47-A5E3-851DD4C33B8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6857" y="2480808"/>
            <a:ext cx="2300583" cy="2319792"/>
          </a:xfrm>
          <a:ln>
            <a:solidFill>
              <a:schemeClr val="tx1"/>
            </a:solidFill>
          </a:ln>
        </p:spPr>
        <p:txBody>
          <a:bodyPr/>
          <a:lstStyle/>
          <a:p>
            <a:r>
              <a:rPr lang="en-US" dirty="0"/>
              <a:t>Matic Žakelj</a:t>
            </a:r>
          </a:p>
          <a:p>
            <a:r>
              <a:rPr lang="en-US" dirty="0"/>
              <a:t>Mark Hafner</a:t>
            </a:r>
          </a:p>
          <a:p>
            <a:r>
              <a:rPr lang="en-US" dirty="0"/>
              <a:t>Nejc </a:t>
            </a:r>
            <a:r>
              <a:rPr lang="en-US" dirty="0" err="1"/>
              <a:t>Gnilšek</a:t>
            </a:r>
            <a:endParaRPr lang="en-US" dirty="0"/>
          </a:p>
          <a:p>
            <a:r>
              <a:rPr lang="en-US" dirty="0"/>
              <a:t>Matevž Kozole Zoran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9DFD98F4-ADE1-F744-9B6A-400898849E9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857" y="4800600"/>
            <a:ext cx="3754164" cy="273844"/>
          </a:xfrm>
        </p:spPr>
        <p:txBody>
          <a:bodyPr/>
          <a:lstStyle/>
          <a:p>
            <a:r>
              <a:rPr lang="en-US" dirty="0"/>
              <a:t>15. 4. 2026</a:t>
            </a:r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68312DDA-E7F7-8F45-A990-461B00087C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PR25-26, </a:t>
            </a:r>
            <a:r>
              <a:rPr lang="en-US" dirty="0" err="1"/>
              <a:t>Vmesna</a:t>
            </a:r>
            <a:r>
              <a:rPr lang="en-US" dirty="0"/>
              <a:t> </a:t>
            </a:r>
            <a:r>
              <a:rPr lang="en-US" dirty="0" err="1"/>
              <a:t>predstavitev</a:t>
            </a:r>
            <a:endParaRPr lang="en-US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BA786EEA-6C8C-664D-87E4-F9330A705F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BC8BC1-971C-5C4D-898D-87CE7EF1EB36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233989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9094EB-9AF8-C443-A38F-2140C80C75A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92765" y="589356"/>
            <a:ext cx="4403432" cy="4177907"/>
          </a:xfrm>
          <a:ln>
            <a:solidFill>
              <a:schemeClr val="tx1"/>
            </a:solidFill>
          </a:ln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600" b="1" dirty="0" err="1"/>
              <a:t>Degradacija</a:t>
            </a:r>
            <a:r>
              <a:rPr lang="en-US" sz="1600" b="1" dirty="0"/>
              <a:t> gum</a:t>
            </a:r>
          </a:p>
          <a:p>
            <a:pPr>
              <a:buFontTx/>
              <a:buChar char="-"/>
            </a:pPr>
            <a:r>
              <a:rPr lang="en-US" sz="1600" dirty="0" err="1"/>
              <a:t>Linearna</a:t>
            </a:r>
            <a:r>
              <a:rPr lang="en-US" sz="1600" dirty="0"/>
              <a:t> </a:t>
            </a:r>
            <a:r>
              <a:rPr lang="en-US" sz="1600" dirty="0" err="1"/>
              <a:t>regresija</a:t>
            </a:r>
            <a:endParaRPr lang="en-US" sz="1600" dirty="0"/>
          </a:p>
          <a:p>
            <a:pPr>
              <a:buFontTx/>
              <a:buChar char="-"/>
            </a:pPr>
            <a:r>
              <a:rPr lang="en-US" sz="1600" dirty="0"/>
              <a:t>Heatmap</a:t>
            </a:r>
          </a:p>
          <a:p>
            <a:pPr>
              <a:buFontTx/>
              <a:buChar char="-"/>
            </a:pPr>
            <a:r>
              <a:rPr lang="en-US" sz="1600" dirty="0" err="1"/>
              <a:t>Statistična</a:t>
            </a:r>
            <a:r>
              <a:rPr lang="en-US" sz="1600" dirty="0"/>
              <a:t> </a:t>
            </a:r>
            <a:r>
              <a:rPr lang="en-US" sz="1600" dirty="0" err="1"/>
              <a:t>analiza</a:t>
            </a:r>
            <a:endParaRPr lang="en-US" sz="1600" dirty="0"/>
          </a:p>
          <a:p>
            <a:pPr>
              <a:buFontTx/>
              <a:buChar char="-"/>
            </a:pPr>
            <a:endParaRPr lang="en-US" sz="1600" dirty="0"/>
          </a:p>
          <a:p>
            <a:pPr marL="0" indent="0">
              <a:buNone/>
            </a:pPr>
            <a:r>
              <a:rPr lang="en-US" sz="1600" b="1" dirty="0" err="1"/>
              <a:t>Primerjava</a:t>
            </a:r>
            <a:r>
              <a:rPr lang="en-US" sz="1600" b="1" dirty="0"/>
              <a:t> </a:t>
            </a:r>
            <a:r>
              <a:rPr lang="en-US" sz="1600" b="1" dirty="0" err="1"/>
              <a:t>konstruktorjev</a:t>
            </a:r>
            <a:endParaRPr lang="en-US" sz="1600" b="1" dirty="0"/>
          </a:p>
          <a:p>
            <a:pPr>
              <a:buFontTx/>
              <a:buChar char="-"/>
            </a:pPr>
            <a:r>
              <a:rPr lang="en-US" sz="1600" dirty="0" err="1"/>
              <a:t>Škatla</a:t>
            </a:r>
            <a:r>
              <a:rPr lang="en-US" sz="1600" dirty="0"/>
              <a:t> z </a:t>
            </a:r>
            <a:r>
              <a:rPr lang="en-US" sz="1600" dirty="0" err="1"/>
              <a:t>brki</a:t>
            </a:r>
            <a:endParaRPr lang="en-US" sz="1600" dirty="0"/>
          </a:p>
          <a:p>
            <a:pPr>
              <a:buFontTx/>
              <a:buChar char="-"/>
            </a:pPr>
            <a:r>
              <a:rPr lang="en-US" sz="1600" dirty="0"/>
              <a:t>Heatmap</a:t>
            </a:r>
          </a:p>
          <a:p>
            <a:pPr>
              <a:buFontTx/>
              <a:buChar char="-"/>
            </a:pPr>
            <a:r>
              <a:rPr lang="en-US" sz="1600" dirty="0" err="1"/>
              <a:t>Stolpični</a:t>
            </a:r>
            <a:r>
              <a:rPr lang="en-US" sz="1600" dirty="0"/>
              <a:t> diagram</a:t>
            </a: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E992772C-EB13-7084-6958-34ED409F7150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5793812" y="386272"/>
            <a:ext cx="3215016" cy="2842202"/>
          </a:xfrm>
          <a:prstGeom prst="rect">
            <a:avLst/>
          </a:prstGeom>
          <a:ln>
            <a:solidFill>
              <a:prstClr val="black"/>
            </a:solidFill>
          </a:ln>
        </p:spPr>
      </p:pic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24814E3-8963-334D-848C-E4EE0D7A5E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BC8BC1-971C-5C4D-898D-87CE7EF1EB36}" type="slidenum">
              <a:rPr lang="en-US" smtClean="0"/>
              <a:t>2</a:t>
            </a:fld>
            <a:endParaRPr lang="en-US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194343F5-9AFD-314A-B851-B4B16EF4AB6C}"/>
              </a:ext>
            </a:extLst>
          </p:cNvPr>
          <p:cNvSpPr txBox="1">
            <a:spLocks/>
          </p:cNvSpPr>
          <p:nvPr/>
        </p:nvSpPr>
        <p:spPr>
          <a:xfrm>
            <a:off x="92765" y="82696"/>
            <a:ext cx="4403432" cy="37212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600" b="1" dirty="0" err="1"/>
              <a:t>Podroben</a:t>
            </a:r>
            <a:r>
              <a:rPr lang="en-US" sz="1600" b="1" dirty="0"/>
              <a:t> </a:t>
            </a:r>
            <a:r>
              <a:rPr lang="en-US" sz="1600" b="1" dirty="0" err="1"/>
              <a:t>opis</a:t>
            </a:r>
            <a:r>
              <a:rPr lang="en-US" sz="1600" b="1" dirty="0"/>
              <a:t> </a:t>
            </a:r>
            <a:r>
              <a:rPr lang="en-US" sz="1600" b="1" dirty="0" err="1"/>
              <a:t>ciljev</a:t>
            </a:r>
            <a:r>
              <a:rPr lang="en-US" sz="1600" b="1" dirty="0"/>
              <a:t> in </a:t>
            </a:r>
            <a:r>
              <a:rPr lang="en-US" sz="1600" b="1" dirty="0" err="1"/>
              <a:t>metod</a:t>
            </a:r>
            <a:endParaRPr lang="en-US" sz="1600" b="1" dirty="0"/>
          </a:p>
        </p:txBody>
      </p:sp>
      <p:sp>
        <p:nvSpPr>
          <p:cNvPr id="11" name="Content Placeholder 11">
            <a:extLst>
              <a:ext uri="{FF2B5EF4-FFF2-40B4-BE49-F238E27FC236}">
                <a16:creationId xmlns:a16="http://schemas.microsoft.com/office/drawing/2014/main" id="{7B9F5A0B-66B3-574B-8ADF-47E9BEA982E5}"/>
              </a:ext>
            </a:extLst>
          </p:cNvPr>
          <p:cNvSpPr txBox="1">
            <a:spLocks/>
          </p:cNvSpPr>
          <p:nvPr/>
        </p:nvSpPr>
        <p:spPr>
          <a:xfrm>
            <a:off x="4572000" y="720327"/>
            <a:ext cx="4436828" cy="3040640"/>
          </a:xfrm>
          <a:prstGeom prst="rect">
            <a:avLst/>
          </a:prstGeom>
        </p:spPr>
        <p:txBody>
          <a:bodyPr/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endParaRPr lang="en-US" sz="1600" dirty="0"/>
          </a:p>
        </p:txBody>
      </p:sp>
      <p:sp>
        <p:nvSpPr>
          <p:cNvPr id="19" name="Content Placeholder 2">
            <a:extLst>
              <a:ext uri="{FF2B5EF4-FFF2-40B4-BE49-F238E27FC236}">
                <a16:creationId xmlns:a16="http://schemas.microsoft.com/office/drawing/2014/main" id="{990225E6-F674-D74E-9E6E-25DF3C6A53B1}"/>
              </a:ext>
            </a:extLst>
          </p:cNvPr>
          <p:cNvSpPr txBox="1">
            <a:spLocks/>
          </p:cNvSpPr>
          <p:nvPr/>
        </p:nvSpPr>
        <p:spPr>
          <a:xfrm>
            <a:off x="4588962" y="82696"/>
            <a:ext cx="4462272" cy="37212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600" b="1" dirty="0" err="1"/>
              <a:t>Rezultati</a:t>
            </a:r>
            <a:r>
              <a:rPr lang="en-US" sz="1600" b="1" dirty="0"/>
              <a:t>/</a:t>
            </a:r>
            <a:r>
              <a:rPr lang="en-US" sz="1600" b="1" dirty="0" err="1"/>
              <a:t>dosedanje</a:t>
            </a:r>
            <a:r>
              <a:rPr lang="en-US" sz="1600" b="1" dirty="0"/>
              <a:t> </a:t>
            </a:r>
            <a:r>
              <a:rPr lang="en-US" sz="1600" b="1" dirty="0" err="1"/>
              <a:t>ugotovitve</a:t>
            </a:r>
            <a:r>
              <a:rPr lang="en-US" sz="1600" b="1" dirty="0"/>
              <a:t>/</a:t>
            </a:r>
            <a:r>
              <a:rPr lang="en-US" sz="1600" b="1" dirty="0" err="1"/>
              <a:t>odprta</a:t>
            </a:r>
            <a:r>
              <a:rPr lang="en-US" sz="1600" b="1" dirty="0"/>
              <a:t> </a:t>
            </a:r>
            <a:r>
              <a:rPr lang="en-US" sz="1600" b="1" dirty="0" err="1"/>
              <a:t>vprašanja</a:t>
            </a:r>
            <a:endParaRPr lang="en-US" sz="1600" b="1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482387C3-9A8A-9A47-8F63-FDB8F168E7F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857" y="4800600"/>
            <a:ext cx="3754164" cy="273844"/>
          </a:xfrm>
        </p:spPr>
        <p:txBody>
          <a:bodyPr/>
          <a:lstStyle/>
          <a:p>
            <a:r>
              <a:rPr lang="en-US" dirty="0"/>
              <a:t>15. 4. 2026</a:t>
            </a:r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ED533418-37C8-B143-91FA-663B1D4940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4767263"/>
            <a:ext cx="3086100" cy="273844"/>
          </a:xfrm>
        </p:spPr>
        <p:txBody>
          <a:bodyPr/>
          <a:lstStyle/>
          <a:p>
            <a:r>
              <a:rPr lang="en-US" dirty="0"/>
              <a:t>PR25-26, </a:t>
            </a:r>
            <a:r>
              <a:rPr lang="en-US" dirty="0" err="1"/>
              <a:t>Vmesna</a:t>
            </a:r>
            <a:r>
              <a:rPr lang="en-US" dirty="0"/>
              <a:t> </a:t>
            </a:r>
            <a:r>
              <a:rPr lang="en-US" dirty="0" err="1"/>
              <a:t>predstavitev</a:t>
            </a:r>
            <a:endParaRPr lang="en-US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8407A208-E6CC-57AE-C13B-D7640801DF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53565" y="2514225"/>
            <a:ext cx="3686197" cy="2286375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BA3BAC73-A09D-1638-F70E-2A3A45D2FB1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38329" y="376238"/>
            <a:ext cx="2855483" cy="2137988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3B279256-EDDE-5953-EF44-D90A1C80F57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39762" y="3205262"/>
            <a:ext cx="3069066" cy="13737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36538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62F0B2-72EB-38BF-039C-5D72B9B588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B437B7-043C-2621-A5E7-3E13209867D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92765" y="589356"/>
            <a:ext cx="4403432" cy="4177907"/>
          </a:xfrm>
          <a:ln>
            <a:solidFill>
              <a:schemeClr val="tx1"/>
            </a:solidFill>
          </a:ln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sz="1600" dirty="0"/>
              <a:t> </a:t>
            </a:r>
            <a:r>
              <a:rPr lang="en-US" sz="1600" b="1" dirty="0" err="1"/>
              <a:t>Kvalifikacije</a:t>
            </a:r>
            <a:r>
              <a:rPr lang="en-US" sz="1600" b="1" dirty="0"/>
              <a:t>, </a:t>
            </a:r>
            <a:r>
              <a:rPr lang="en-US" sz="1600" b="1" dirty="0" err="1"/>
              <a:t>ravnine</a:t>
            </a:r>
            <a:r>
              <a:rPr lang="en-US" sz="1600" b="1" dirty="0"/>
              <a:t> in </a:t>
            </a:r>
            <a:r>
              <a:rPr lang="en-US" sz="1600" b="1" dirty="0" err="1"/>
              <a:t>ovinki</a:t>
            </a:r>
            <a:endParaRPr lang="sl-SI" sz="1600" b="1" dirty="0"/>
          </a:p>
          <a:p>
            <a:pPr marL="0" indent="0">
              <a:buNone/>
            </a:pPr>
            <a:r>
              <a:rPr lang="sl-SI" sz="1600" b="1" dirty="0"/>
              <a:t> Cilj</a:t>
            </a:r>
          </a:p>
          <a:p>
            <a:pPr marL="0" indent="0">
              <a:buNone/>
            </a:pPr>
            <a:r>
              <a:rPr lang="sl-SI" sz="1600" dirty="0"/>
              <a:t>  - povezava med štartnim položajem in končno uvrstitvijo</a:t>
            </a:r>
          </a:p>
          <a:p>
            <a:pPr marL="0" indent="0">
              <a:buNone/>
            </a:pPr>
            <a:r>
              <a:rPr lang="sl-SI" sz="1600" dirty="0"/>
              <a:t>  - primerjava hitrosti na ravninah in učinkovitosti v ovinkih</a:t>
            </a:r>
          </a:p>
          <a:p>
            <a:pPr marL="0" indent="0">
              <a:buNone/>
            </a:pPr>
            <a:endParaRPr lang="sl-SI" sz="1600" dirty="0"/>
          </a:p>
          <a:p>
            <a:pPr marL="0" indent="0">
              <a:buNone/>
            </a:pPr>
            <a:r>
              <a:rPr lang="sl-SI" sz="1600" dirty="0"/>
              <a:t>  </a:t>
            </a:r>
            <a:r>
              <a:rPr lang="sl-SI" sz="1600" b="1" dirty="0"/>
              <a:t>Metoda</a:t>
            </a:r>
          </a:p>
          <a:p>
            <a:pPr marL="0" indent="0">
              <a:buNone/>
            </a:pPr>
            <a:r>
              <a:rPr lang="sl-SI" sz="1600" dirty="0"/>
              <a:t>  - FastF1 podatki za sezono 2025</a:t>
            </a:r>
          </a:p>
          <a:p>
            <a:pPr marL="0" indent="0">
              <a:buNone/>
            </a:pPr>
            <a:r>
              <a:rPr lang="sl-SI" sz="1600" dirty="0"/>
              <a:t>  - Spearmanova/Pearsonova korelacija</a:t>
            </a:r>
          </a:p>
          <a:p>
            <a:pPr marL="0" indent="0">
              <a:buNone/>
            </a:pPr>
            <a:r>
              <a:rPr lang="sl-SI" sz="1600" dirty="0"/>
              <a:t>  - SpeedST za ravnine, telemetrija za hitrosti v ovinkih</a:t>
            </a:r>
          </a:p>
          <a:p>
            <a:pPr marL="0" indent="0">
              <a:buNone/>
            </a:pPr>
            <a:endParaRPr lang="sl-SI" sz="1600" dirty="0"/>
          </a:p>
          <a:p>
            <a:pPr marL="0" indent="0">
              <a:buNone/>
            </a:pPr>
            <a:r>
              <a:rPr lang="sl-SI" sz="1600" dirty="0"/>
              <a:t> </a:t>
            </a:r>
            <a:r>
              <a:rPr lang="sl-SI" sz="1600" b="1" dirty="0"/>
              <a:t> Rezultati</a:t>
            </a:r>
          </a:p>
          <a:p>
            <a:pPr marL="0" indent="0">
              <a:buNone/>
            </a:pPr>
            <a:r>
              <a:rPr lang="sl-SI" sz="1600" dirty="0"/>
              <a:t>  </a:t>
            </a:r>
            <a:r>
              <a:rPr lang="el-GR" sz="1600" dirty="0"/>
              <a:t>- </a:t>
            </a:r>
            <a:r>
              <a:rPr lang="sl-SI" sz="1600" dirty="0"/>
              <a:t>sezonsko povprečje povezave kvalifikacije → </a:t>
            </a:r>
            <a:r>
              <a:rPr lang="el-GR" sz="1600" dirty="0"/>
              <a:t>ρ ≈ 0.65</a:t>
            </a:r>
          </a:p>
          <a:p>
            <a:pPr marL="0" indent="0">
              <a:buNone/>
            </a:pPr>
            <a:r>
              <a:rPr lang="el-GR" sz="1600" dirty="0"/>
              <a:t>  - </a:t>
            </a:r>
            <a:r>
              <a:rPr lang="sl-SI" sz="1600" dirty="0"/>
              <a:t>ovinki so bili močnejši signal za rezultat na 20 od 24 dirk</a:t>
            </a:r>
          </a:p>
        </p:txBody>
      </p:sp>
      <p:sp>
        <p:nvSpPr>
          <p:cNvPr id="18" name="Content Placeholder 17">
            <a:extLst>
              <a:ext uri="{FF2B5EF4-FFF2-40B4-BE49-F238E27FC236}">
                <a16:creationId xmlns:a16="http://schemas.microsoft.com/office/drawing/2014/main" id="{337F0647-CF79-64A1-B84F-1434B0EDDB4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588962" y="589356"/>
            <a:ext cx="4462272" cy="4177907"/>
          </a:xfrm>
          <a:ln>
            <a:solidFill>
              <a:schemeClr val="tx1"/>
            </a:solidFill>
          </a:ln>
        </p:spPr>
        <p:txBody>
          <a:bodyPr>
            <a:normAutofit fontScale="92500" lnSpcReduction="20000"/>
          </a:bodyPr>
          <a:lstStyle/>
          <a:p>
            <a:endParaRPr lang="en-US" sz="1600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417B11F-DEF4-EA91-A9D6-E2806AB16C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BC8BC1-971C-5C4D-898D-87CE7EF1EB36}" type="slidenum">
              <a:rPr lang="en-US" smtClean="0"/>
              <a:t>3</a:t>
            </a:fld>
            <a:endParaRPr lang="en-US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CA208B6A-C03A-2C7F-2682-8EA7A573890E}"/>
              </a:ext>
            </a:extLst>
          </p:cNvPr>
          <p:cNvSpPr txBox="1">
            <a:spLocks/>
          </p:cNvSpPr>
          <p:nvPr/>
        </p:nvSpPr>
        <p:spPr>
          <a:xfrm>
            <a:off x="92765" y="82696"/>
            <a:ext cx="4403432" cy="37212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600" b="1" dirty="0" err="1"/>
              <a:t>Podroben</a:t>
            </a:r>
            <a:r>
              <a:rPr lang="en-US" sz="1600" b="1" dirty="0"/>
              <a:t> </a:t>
            </a:r>
            <a:r>
              <a:rPr lang="en-US" sz="1600" b="1" dirty="0" err="1"/>
              <a:t>opis</a:t>
            </a:r>
            <a:r>
              <a:rPr lang="en-US" sz="1600" b="1" dirty="0"/>
              <a:t> </a:t>
            </a:r>
            <a:r>
              <a:rPr lang="en-US" sz="1600" b="1" dirty="0" err="1"/>
              <a:t>ciljev</a:t>
            </a:r>
            <a:r>
              <a:rPr lang="en-US" sz="1600" b="1" dirty="0"/>
              <a:t> in </a:t>
            </a:r>
            <a:r>
              <a:rPr lang="en-US" sz="1600" b="1" dirty="0" err="1"/>
              <a:t>metod</a:t>
            </a:r>
            <a:endParaRPr lang="en-US" sz="1600" b="1" dirty="0"/>
          </a:p>
        </p:txBody>
      </p:sp>
      <p:sp>
        <p:nvSpPr>
          <p:cNvPr id="11" name="Content Placeholder 11">
            <a:extLst>
              <a:ext uri="{FF2B5EF4-FFF2-40B4-BE49-F238E27FC236}">
                <a16:creationId xmlns:a16="http://schemas.microsoft.com/office/drawing/2014/main" id="{CCC2915C-9DF9-738A-0A3A-6A5B50229095}"/>
              </a:ext>
            </a:extLst>
          </p:cNvPr>
          <p:cNvSpPr txBox="1">
            <a:spLocks/>
          </p:cNvSpPr>
          <p:nvPr/>
        </p:nvSpPr>
        <p:spPr>
          <a:xfrm>
            <a:off x="4572000" y="720327"/>
            <a:ext cx="4436828" cy="3040640"/>
          </a:xfrm>
          <a:prstGeom prst="rect">
            <a:avLst/>
          </a:prstGeom>
        </p:spPr>
        <p:txBody>
          <a:bodyPr/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endParaRPr lang="en-US" sz="1600" dirty="0"/>
          </a:p>
        </p:txBody>
      </p:sp>
      <p:sp>
        <p:nvSpPr>
          <p:cNvPr id="19" name="Content Placeholder 2">
            <a:extLst>
              <a:ext uri="{FF2B5EF4-FFF2-40B4-BE49-F238E27FC236}">
                <a16:creationId xmlns:a16="http://schemas.microsoft.com/office/drawing/2014/main" id="{A5200CCB-CFA4-1C1C-C760-1DD229BD62FA}"/>
              </a:ext>
            </a:extLst>
          </p:cNvPr>
          <p:cNvSpPr txBox="1">
            <a:spLocks/>
          </p:cNvSpPr>
          <p:nvPr/>
        </p:nvSpPr>
        <p:spPr>
          <a:xfrm>
            <a:off x="4588962" y="82696"/>
            <a:ext cx="4462272" cy="37212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600" b="1" dirty="0" err="1"/>
              <a:t>Rezultati</a:t>
            </a:r>
            <a:r>
              <a:rPr lang="en-US" sz="1600" b="1" dirty="0"/>
              <a:t>/</a:t>
            </a:r>
            <a:r>
              <a:rPr lang="en-US" sz="1600" b="1" dirty="0" err="1"/>
              <a:t>dosedanje</a:t>
            </a:r>
            <a:r>
              <a:rPr lang="en-US" sz="1600" b="1" dirty="0"/>
              <a:t> </a:t>
            </a:r>
            <a:r>
              <a:rPr lang="en-US" sz="1600" b="1" dirty="0" err="1"/>
              <a:t>ugotovitve</a:t>
            </a:r>
            <a:r>
              <a:rPr lang="en-US" sz="1600" b="1" dirty="0"/>
              <a:t>/</a:t>
            </a:r>
            <a:r>
              <a:rPr lang="en-US" sz="1600" b="1" dirty="0" err="1"/>
              <a:t>odprta</a:t>
            </a:r>
            <a:r>
              <a:rPr lang="en-US" sz="1600" b="1" dirty="0"/>
              <a:t> </a:t>
            </a:r>
            <a:r>
              <a:rPr lang="en-US" sz="1600" b="1" dirty="0" err="1"/>
              <a:t>vprašanja</a:t>
            </a:r>
            <a:endParaRPr lang="en-US" sz="1600" b="1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14CA68B1-8009-4527-27A3-DE99EBD7172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857" y="4800600"/>
            <a:ext cx="3754164" cy="273844"/>
          </a:xfrm>
        </p:spPr>
        <p:txBody>
          <a:bodyPr/>
          <a:lstStyle/>
          <a:p>
            <a:r>
              <a:rPr lang="en-US" dirty="0"/>
              <a:t>15. 4. 2026</a:t>
            </a:r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BFFE8ABD-A532-56F3-A0AA-D0BDFA38A2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4767263"/>
            <a:ext cx="3086100" cy="273844"/>
          </a:xfrm>
        </p:spPr>
        <p:txBody>
          <a:bodyPr/>
          <a:lstStyle/>
          <a:p>
            <a:r>
              <a:rPr lang="en-US" dirty="0"/>
              <a:t>PR25-26, </a:t>
            </a:r>
            <a:r>
              <a:rPr lang="en-US" dirty="0" err="1"/>
              <a:t>Vmesna</a:t>
            </a:r>
            <a:r>
              <a:rPr lang="en-US" dirty="0"/>
              <a:t> </a:t>
            </a:r>
            <a:r>
              <a:rPr lang="en-US" dirty="0" err="1"/>
              <a:t>predstavitev</a:t>
            </a: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C274FA9-F36E-8929-8502-000590875C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7738" y="454816"/>
            <a:ext cx="3260761" cy="224747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8FB58BB6-D3AE-322E-B5DE-1AFDED65CD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3590" y="2702292"/>
            <a:ext cx="3476594" cy="23843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892786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62F0B2-72EB-38BF-039C-5D72B9B588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B437B7-043C-2621-A5E7-3E13209867D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92765" y="589356"/>
            <a:ext cx="2593285" cy="4177907"/>
          </a:xfrm>
          <a:ln>
            <a:solidFill>
              <a:schemeClr val="tx1"/>
            </a:solidFill>
          </a:ln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600" b="1" dirty="0" err="1"/>
              <a:t>Primerjava</a:t>
            </a:r>
            <a:r>
              <a:rPr lang="en-US" sz="1600" b="1" dirty="0"/>
              <a:t> </a:t>
            </a:r>
            <a:r>
              <a:rPr lang="en-US" sz="1600" b="1" dirty="0" err="1"/>
              <a:t>povprečnih</a:t>
            </a:r>
            <a:r>
              <a:rPr lang="en-US" sz="1600" b="1" dirty="0"/>
              <a:t> </a:t>
            </a:r>
            <a:r>
              <a:rPr lang="en-US" sz="1600" b="1" dirty="0" err="1"/>
              <a:t>krogov</a:t>
            </a:r>
            <a:r>
              <a:rPr lang="en-US" sz="1600" b="1" dirty="0"/>
              <a:t> v </a:t>
            </a:r>
            <a:r>
              <a:rPr lang="en-US" sz="1600" b="1" dirty="0" err="1"/>
              <a:t>deževnih</a:t>
            </a:r>
            <a:r>
              <a:rPr lang="en-US" sz="1600" b="1" dirty="0"/>
              <a:t> </a:t>
            </a:r>
            <a:r>
              <a:rPr lang="en-US" sz="1600" b="1" dirty="0" err="1"/>
              <a:t>razmerah</a:t>
            </a:r>
            <a:r>
              <a:rPr lang="en-US" sz="1600" b="1" dirty="0"/>
              <a:t>:</a:t>
            </a:r>
          </a:p>
          <a:p>
            <a:pPr>
              <a:buFontTx/>
              <a:buChar char="-"/>
            </a:pPr>
            <a:r>
              <a:rPr lang="en-US" sz="1600" dirty="0" err="1"/>
              <a:t>Zberemo</a:t>
            </a:r>
            <a:r>
              <a:rPr lang="en-US" sz="1600" dirty="0"/>
              <a:t> </a:t>
            </a:r>
            <a:r>
              <a:rPr lang="en-US" sz="1600" dirty="0" err="1"/>
              <a:t>vse</a:t>
            </a:r>
            <a:r>
              <a:rPr lang="en-US" sz="1600" dirty="0"/>
              <a:t> </a:t>
            </a:r>
            <a:r>
              <a:rPr lang="en-US" sz="1600" dirty="0" err="1"/>
              <a:t>kroge</a:t>
            </a:r>
            <a:r>
              <a:rPr lang="en-US" sz="1600" dirty="0"/>
              <a:t> v </a:t>
            </a:r>
            <a:r>
              <a:rPr lang="en-US" sz="1600" dirty="0" err="1"/>
              <a:t>deževnih</a:t>
            </a:r>
            <a:r>
              <a:rPr lang="en-US" sz="1600" dirty="0"/>
              <a:t> </a:t>
            </a:r>
            <a:r>
              <a:rPr lang="en-US" sz="1600" dirty="0" err="1"/>
              <a:t>razmerah</a:t>
            </a:r>
            <a:r>
              <a:rPr lang="en-US" sz="1600" dirty="0"/>
              <a:t> in </a:t>
            </a:r>
            <a:r>
              <a:rPr lang="en-US" sz="1600" dirty="0" err="1"/>
              <a:t>pridobimo</a:t>
            </a:r>
            <a:r>
              <a:rPr lang="en-US" sz="1600" dirty="0"/>
              <a:t> </a:t>
            </a:r>
            <a:r>
              <a:rPr lang="en-US" sz="1600" dirty="0" err="1"/>
              <a:t>povprečje</a:t>
            </a:r>
            <a:r>
              <a:rPr lang="en-US" sz="1600" dirty="0"/>
              <a:t> za </a:t>
            </a:r>
            <a:r>
              <a:rPr lang="en-US" sz="1600" dirty="0" err="1"/>
              <a:t>vsakega</a:t>
            </a:r>
            <a:r>
              <a:rPr lang="en-US" sz="1600" dirty="0"/>
              <a:t> </a:t>
            </a:r>
            <a:r>
              <a:rPr lang="en-US" sz="1600" dirty="0" err="1"/>
              <a:t>voznika</a:t>
            </a:r>
            <a:endParaRPr lang="en-US" sz="1600" dirty="0"/>
          </a:p>
          <a:p>
            <a:pPr>
              <a:buFontTx/>
              <a:buChar char="-"/>
            </a:pPr>
            <a:r>
              <a:rPr lang="en-US" sz="1600" dirty="0" err="1"/>
              <a:t>Vsaj</a:t>
            </a:r>
            <a:r>
              <a:rPr lang="en-US" sz="1600" dirty="0"/>
              <a:t> 50 </a:t>
            </a:r>
            <a:r>
              <a:rPr lang="en-US" sz="1600" dirty="0" err="1"/>
              <a:t>takšnih</a:t>
            </a:r>
            <a:r>
              <a:rPr lang="en-US" sz="1600" dirty="0"/>
              <a:t> </a:t>
            </a:r>
            <a:r>
              <a:rPr lang="en-US" sz="1600" dirty="0" err="1"/>
              <a:t>krogov</a:t>
            </a:r>
            <a:endParaRPr lang="en-US" sz="1600" dirty="0"/>
          </a:p>
          <a:p>
            <a:pPr>
              <a:buFontTx/>
              <a:buChar char="-"/>
            </a:pPr>
            <a:r>
              <a:rPr lang="en-US" sz="1600" dirty="0" err="1"/>
              <a:t>Št</a:t>
            </a:r>
            <a:r>
              <a:rPr lang="en-US" sz="1600" dirty="0"/>
              <a:t>. </a:t>
            </a:r>
            <a:r>
              <a:rPr lang="en-US" sz="1600" dirty="0" err="1"/>
              <a:t>pridobljenih</a:t>
            </a:r>
            <a:r>
              <a:rPr lang="en-US" sz="1600" dirty="0"/>
              <a:t> </a:t>
            </a:r>
            <a:r>
              <a:rPr lang="en-US" sz="1600" dirty="0" err="1"/>
              <a:t>točk</a:t>
            </a:r>
            <a:r>
              <a:rPr lang="en-US" sz="1600" dirty="0"/>
              <a:t> </a:t>
            </a:r>
            <a:r>
              <a:rPr lang="en-US" sz="1600" dirty="0" err="1"/>
              <a:t>na</a:t>
            </a:r>
            <a:r>
              <a:rPr lang="en-US" sz="1600" dirty="0"/>
              <a:t> </a:t>
            </a:r>
            <a:r>
              <a:rPr lang="en-US" sz="1600" dirty="0" err="1"/>
              <a:t>takih</a:t>
            </a:r>
            <a:r>
              <a:rPr lang="en-US" sz="1600" dirty="0"/>
              <a:t> </a:t>
            </a:r>
            <a:r>
              <a:rPr lang="en-US" sz="1600" dirty="0" err="1"/>
              <a:t>dirkah</a:t>
            </a:r>
            <a:endParaRPr lang="en-US" sz="1600" dirty="0"/>
          </a:p>
          <a:p>
            <a:pPr marL="0" indent="0">
              <a:buNone/>
            </a:pPr>
            <a:endParaRPr lang="en-US" sz="1600" dirty="0"/>
          </a:p>
          <a:p>
            <a:pPr marL="0" indent="0">
              <a:buNone/>
            </a:pPr>
            <a:r>
              <a:rPr lang="en-US" sz="1600" b="1" dirty="0" err="1"/>
              <a:t>Primerjava</a:t>
            </a:r>
            <a:r>
              <a:rPr lang="en-US" sz="1600" b="1" dirty="0"/>
              <a:t> </a:t>
            </a:r>
            <a:r>
              <a:rPr lang="en-US" sz="1600" b="1" dirty="0" err="1"/>
              <a:t>časov</a:t>
            </a:r>
            <a:r>
              <a:rPr lang="en-US" sz="1600" b="1" dirty="0"/>
              <a:t> glede </a:t>
            </a:r>
            <a:r>
              <a:rPr lang="en-US" sz="1600" b="1" dirty="0" err="1"/>
              <a:t>na</a:t>
            </a:r>
            <a:r>
              <a:rPr lang="en-US" sz="1600" b="1" dirty="0"/>
              <a:t> </a:t>
            </a:r>
            <a:r>
              <a:rPr lang="en-US" sz="1600" b="1" dirty="0" err="1"/>
              <a:t>vremenske</a:t>
            </a:r>
            <a:r>
              <a:rPr lang="en-US" sz="1600" b="1" dirty="0"/>
              <a:t> </a:t>
            </a:r>
            <a:r>
              <a:rPr lang="en-US" sz="1600" b="1" dirty="0" err="1"/>
              <a:t>razmere</a:t>
            </a:r>
            <a:r>
              <a:rPr lang="en-US" sz="1600" b="1" dirty="0"/>
              <a:t>:</a:t>
            </a:r>
          </a:p>
          <a:p>
            <a:pPr>
              <a:buFontTx/>
              <a:buChar char="-"/>
            </a:pPr>
            <a:r>
              <a:rPr lang="en-US" sz="1600" dirty="0"/>
              <a:t>Modro: </a:t>
            </a:r>
            <a:r>
              <a:rPr lang="en-US" sz="1600" dirty="0" err="1"/>
              <a:t>deževne</a:t>
            </a:r>
            <a:r>
              <a:rPr lang="en-US" sz="1600" dirty="0"/>
              <a:t> </a:t>
            </a:r>
            <a:r>
              <a:rPr lang="en-US" sz="1600" dirty="0" err="1"/>
              <a:t>razmere</a:t>
            </a:r>
            <a:endParaRPr lang="en-US" sz="1600" dirty="0"/>
          </a:p>
          <a:p>
            <a:pPr>
              <a:buFontTx/>
              <a:buChar char="-"/>
            </a:pPr>
            <a:r>
              <a:rPr lang="en-US" sz="1600" dirty="0" err="1"/>
              <a:t>Oranžno</a:t>
            </a:r>
            <a:r>
              <a:rPr lang="en-US" sz="1600" dirty="0"/>
              <a:t>: </a:t>
            </a:r>
            <a:r>
              <a:rPr lang="en-US" sz="1600" dirty="0" err="1"/>
              <a:t>suhe</a:t>
            </a:r>
            <a:r>
              <a:rPr lang="en-US" sz="1600" dirty="0"/>
              <a:t> </a:t>
            </a:r>
            <a:r>
              <a:rPr lang="en-US" sz="1600" dirty="0" err="1"/>
              <a:t>razmere</a:t>
            </a:r>
            <a:endParaRPr lang="en-US" sz="1600" dirty="0"/>
          </a:p>
        </p:txBody>
      </p:sp>
      <p:sp>
        <p:nvSpPr>
          <p:cNvPr id="18" name="Content Placeholder 17">
            <a:extLst>
              <a:ext uri="{FF2B5EF4-FFF2-40B4-BE49-F238E27FC236}">
                <a16:creationId xmlns:a16="http://schemas.microsoft.com/office/drawing/2014/main" id="{337F0647-CF79-64A1-B84F-1434B0EDDB4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2874818" y="589356"/>
            <a:ext cx="6176416" cy="4177907"/>
          </a:xfrm>
          <a:ln>
            <a:solidFill>
              <a:schemeClr val="tx1"/>
            </a:solidFill>
          </a:ln>
        </p:spPr>
        <p:txBody>
          <a:bodyPr>
            <a:normAutofit/>
          </a:bodyPr>
          <a:lstStyle/>
          <a:p>
            <a:endParaRPr lang="en-US" sz="1600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417B11F-DEF4-EA91-A9D6-E2806AB16C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BC8BC1-971C-5C4D-898D-87CE7EF1EB36}" type="slidenum">
              <a:rPr lang="en-US" smtClean="0"/>
              <a:t>4</a:t>
            </a:fld>
            <a:endParaRPr lang="en-US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CA208B6A-C03A-2C7F-2682-8EA7A573890E}"/>
              </a:ext>
            </a:extLst>
          </p:cNvPr>
          <p:cNvSpPr txBox="1">
            <a:spLocks/>
          </p:cNvSpPr>
          <p:nvPr/>
        </p:nvSpPr>
        <p:spPr>
          <a:xfrm>
            <a:off x="92765" y="82696"/>
            <a:ext cx="4403432" cy="37212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600" b="1" dirty="0" err="1"/>
              <a:t>Podroben</a:t>
            </a:r>
            <a:r>
              <a:rPr lang="en-US" sz="1600" b="1" dirty="0"/>
              <a:t> </a:t>
            </a:r>
            <a:r>
              <a:rPr lang="en-US" sz="1600" b="1" dirty="0" err="1"/>
              <a:t>opis</a:t>
            </a:r>
            <a:r>
              <a:rPr lang="en-US" sz="1600" b="1" dirty="0"/>
              <a:t> </a:t>
            </a:r>
            <a:r>
              <a:rPr lang="en-US" sz="1600" b="1" dirty="0" err="1"/>
              <a:t>ciljev</a:t>
            </a:r>
            <a:r>
              <a:rPr lang="en-US" sz="1600" b="1" dirty="0"/>
              <a:t> in </a:t>
            </a:r>
            <a:r>
              <a:rPr lang="en-US" sz="1600" b="1" dirty="0" err="1"/>
              <a:t>metod</a:t>
            </a:r>
            <a:endParaRPr lang="en-US" sz="1600" b="1" dirty="0"/>
          </a:p>
        </p:txBody>
      </p:sp>
      <p:sp>
        <p:nvSpPr>
          <p:cNvPr id="11" name="Content Placeholder 11">
            <a:extLst>
              <a:ext uri="{FF2B5EF4-FFF2-40B4-BE49-F238E27FC236}">
                <a16:creationId xmlns:a16="http://schemas.microsoft.com/office/drawing/2014/main" id="{CCC2915C-9DF9-738A-0A3A-6A5B50229095}"/>
              </a:ext>
            </a:extLst>
          </p:cNvPr>
          <p:cNvSpPr txBox="1">
            <a:spLocks/>
          </p:cNvSpPr>
          <p:nvPr/>
        </p:nvSpPr>
        <p:spPr>
          <a:xfrm>
            <a:off x="4572000" y="720327"/>
            <a:ext cx="4436828" cy="3040640"/>
          </a:xfrm>
          <a:prstGeom prst="rect">
            <a:avLst/>
          </a:prstGeom>
        </p:spPr>
        <p:txBody>
          <a:bodyPr/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endParaRPr lang="en-US" sz="1600" dirty="0"/>
          </a:p>
        </p:txBody>
      </p:sp>
      <p:sp>
        <p:nvSpPr>
          <p:cNvPr id="19" name="Content Placeholder 2">
            <a:extLst>
              <a:ext uri="{FF2B5EF4-FFF2-40B4-BE49-F238E27FC236}">
                <a16:creationId xmlns:a16="http://schemas.microsoft.com/office/drawing/2014/main" id="{A5200CCB-CFA4-1C1C-C760-1DD229BD62FA}"/>
              </a:ext>
            </a:extLst>
          </p:cNvPr>
          <p:cNvSpPr txBox="1">
            <a:spLocks/>
          </p:cNvSpPr>
          <p:nvPr/>
        </p:nvSpPr>
        <p:spPr>
          <a:xfrm>
            <a:off x="4588962" y="82696"/>
            <a:ext cx="4462272" cy="37212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600" b="1" dirty="0" err="1"/>
              <a:t>Rezultati</a:t>
            </a:r>
            <a:r>
              <a:rPr lang="en-US" sz="1600" b="1" dirty="0"/>
              <a:t>/</a:t>
            </a:r>
            <a:r>
              <a:rPr lang="en-US" sz="1600" b="1" dirty="0" err="1"/>
              <a:t>dosedanje</a:t>
            </a:r>
            <a:r>
              <a:rPr lang="en-US" sz="1600" b="1" dirty="0"/>
              <a:t> </a:t>
            </a:r>
            <a:r>
              <a:rPr lang="en-US" sz="1600" b="1" dirty="0" err="1"/>
              <a:t>ugotovitve</a:t>
            </a:r>
            <a:r>
              <a:rPr lang="en-US" sz="1600" b="1" dirty="0"/>
              <a:t>/</a:t>
            </a:r>
            <a:r>
              <a:rPr lang="en-US" sz="1600" b="1" dirty="0" err="1"/>
              <a:t>odprta</a:t>
            </a:r>
            <a:r>
              <a:rPr lang="en-US" sz="1600" b="1" dirty="0"/>
              <a:t> </a:t>
            </a:r>
            <a:r>
              <a:rPr lang="en-US" sz="1600" b="1" dirty="0" err="1"/>
              <a:t>vprašanja</a:t>
            </a:r>
            <a:endParaRPr lang="en-US" sz="1600" b="1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14CA68B1-8009-4527-27A3-DE99EBD7172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857" y="4800600"/>
            <a:ext cx="3754164" cy="273844"/>
          </a:xfrm>
        </p:spPr>
        <p:txBody>
          <a:bodyPr/>
          <a:lstStyle/>
          <a:p>
            <a:r>
              <a:rPr lang="en-US" dirty="0"/>
              <a:t>15. 4. 2026</a:t>
            </a:r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BFFE8ABD-A532-56F3-A0AA-D0BDFA38A2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4767263"/>
            <a:ext cx="3086100" cy="273844"/>
          </a:xfrm>
        </p:spPr>
        <p:txBody>
          <a:bodyPr/>
          <a:lstStyle/>
          <a:p>
            <a:r>
              <a:rPr lang="en-US" dirty="0"/>
              <a:t>PR25-26, </a:t>
            </a:r>
            <a:r>
              <a:rPr lang="en-US" dirty="0" err="1"/>
              <a:t>Vmesna</a:t>
            </a:r>
            <a:r>
              <a:rPr lang="en-US" dirty="0"/>
              <a:t> </a:t>
            </a:r>
            <a:r>
              <a:rPr lang="en-US" dirty="0" err="1"/>
              <a:t>predstavitev</a:t>
            </a:r>
            <a:endParaRPr lang="en-US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44480408-0ED4-160C-7011-FFC62E9350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82982" y="589356"/>
            <a:ext cx="3388759" cy="16814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704D9FE6-6FDB-0A36-D738-9368464E359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80608" y="2285423"/>
            <a:ext cx="3391133" cy="16814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>
            <a:extLst>
              <a:ext uri="{FF2B5EF4-FFF2-40B4-BE49-F238E27FC236}">
                <a16:creationId xmlns:a16="http://schemas.microsoft.com/office/drawing/2014/main" id="{3954F1ED-D85C-728D-037A-7A77A31D5E8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82974" y="585787"/>
            <a:ext cx="3314643" cy="16446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>
            <a:extLst>
              <a:ext uri="{FF2B5EF4-FFF2-40B4-BE49-F238E27FC236}">
                <a16:creationId xmlns:a16="http://schemas.microsoft.com/office/drawing/2014/main" id="{C7539519-194B-EB23-E947-D825AE1112B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96270" y="2270793"/>
            <a:ext cx="3447730" cy="1710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299835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032997-45F8-4B43-BA59-BC34FE1B6D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9391" y="102394"/>
            <a:ext cx="8945218" cy="410942"/>
          </a:xfrm>
        </p:spPr>
        <p:txBody>
          <a:bodyPr>
            <a:normAutofit/>
          </a:bodyPr>
          <a:lstStyle/>
          <a:p>
            <a:r>
              <a:rPr lang="en-US" sz="1600" b="1" dirty="0" err="1">
                <a:latin typeface="+mn-lt"/>
              </a:rPr>
              <a:t>Dodatna</a:t>
            </a:r>
            <a:r>
              <a:rPr lang="en-US" sz="1600" b="1" dirty="0">
                <a:latin typeface="+mn-lt"/>
              </a:rPr>
              <a:t> </a:t>
            </a:r>
            <a:r>
              <a:rPr lang="en-US" sz="1600" b="1" dirty="0" err="1">
                <a:latin typeface="+mn-lt"/>
              </a:rPr>
              <a:t>prosojnica</a:t>
            </a:r>
            <a:r>
              <a:rPr lang="en-US" sz="1600" b="1" dirty="0">
                <a:latin typeface="+mn-lt"/>
              </a:rPr>
              <a:t> za </a:t>
            </a:r>
            <a:r>
              <a:rPr lang="en-US" sz="1600" b="1" dirty="0" err="1">
                <a:latin typeface="+mn-lt"/>
              </a:rPr>
              <a:t>rezultate</a:t>
            </a:r>
            <a:r>
              <a:rPr lang="en-US" sz="1600" b="1" dirty="0">
                <a:latin typeface="+mn-lt"/>
              </a:rPr>
              <a:t> oz. </a:t>
            </a:r>
            <a:r>
              <a:rPr lang="en-US" sz="1600" b="1" dirty="0" err="1">
                <a:latin typeface="+mn-lt"/>
              </a:rPr>
              <a:t>odprta</a:t>
            </a:r>
            <a:r>
              <a:rPr lang="en-US" sz="1600" b="1" dirty="0">
                <a:latin typeface="+mn-lt"/>
              </a:rPr>
              <a:t> </a:t>
            </a:r>
            <a:r>
              <a:rPr lang="en-US" sz="1600" b="1" dirty="0" err="1">
                <a:latin typeface="+mn-lt"/>
              </a:rPr>
              <a:t>vprašanja</a:t>
            </a:r>
            <a:r>
              <a:rPr lang="en-US" sz="1600" b="1" dirty="0">
                <a:latin typeface="+mn-lt"/>
              </a:rPr>
              <a:t> (</a:t>
            </a:r>
            <a:r>
              <a:rPr lang="en-US" sz="1600" b="1" dirty="0" err="1">
                <a:latin typeface="+mn-lt"/>
              </a:rPr>
              <a:t>če</a:t>
            </a:r>
            <a:r>
              <a:rPr lang="en-US" sz="1600" b="1" dirty="0">
                <a:latin typeface="+mn-lt"/>
              </a:rPr>
              <a:t> </a:t>
            </a:r>
            <a:r>
              <a:rPr lang="en-US" sz="1600" b="1" dirty="0" err="1">
                <a:latin typeface="+mn-lt"/>
              </a:rPr>
              <a:t>potrebno</a:t>
            </a:r>
            <a:r>
              <a:rPr lang="en-US" sz="1600" b="1" dirty="0">
                <a:latin typeface="+mn-lt"/>
              </a:rPr>
              <a:t>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36DCB2-1C93-E142-85FE-F367FBA7EB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9392" y="513336"/>
            <a:ext cx="8945217" cy="4253927"/>
          </a:xfrm>
          <a:ln>
            <a:solidFill>
              <a:schemeClr val="tx1"/>
            </a:solidFill>
          </a:ln>
        </p:spPr>
        <p:txBody>
          <a:bodyPr>
            <a:normAutofit/>
          </a:bodyPr>
          <a:lstStyle/>
          <a:p>
            <a:endParaRPr lang="en-US" sz="160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3A65B7-6F2E-D145-A02C-A24F07A611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BC8BC1-971C-5C4D-898D-87CE7EF1EB36}" type="slidenum">
              <a:rPr lang="en-US" smtClean="0"/>
              <a:t>5</a:t>
            </a:fld>
            <a:endParaRPr lang="en-US"/>
          </a:p>
        </p:txBody>
      </p:sp>
      <p:sp>
        <p:nvSpPr>
          <p:cNvPr id="8" name="Date Placeholder 11">
            <a:extLst>
              <a:ext uri="{FF2B5EF4-FFF2-40B4-BE49-F238E27FC236}">
                <a16:creationId xmlns:a16="http://schemas.microsoft.com/office/drawing/2014/main" id="{07C4AC33-717C-454A-96DC-39E4E45FC35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857" y="4800600"/>
            <a:ext cx="3754164" cy="273844"/>
          </a:xfrm>
        </p:spPr>
        <p:txBody>
          <a:bodyPr/>
          <a:lstStyle/>
          <a:p>
            <a:r>
              <a:rPr lang="en-US" dirty="0"/>
              <a:t>15. 4. 2026</a:t>
            </a:r>
          </a:p>
        </p:txBody>
      </p:sp>
      <p:sp>
        <p:nvSpPr>
          <p:cNvPr id="9" name="Footer Placeholder 12">
            <a:extLst>
              <a:ext uri="{FF2B5EF4-FFF2-40B4-BE49-F238E27FC236}">
                <a16:creationId xmlns:a16="http://schemas.microsoft.com/office/drawing/2014/main" id="{1E484604-5097-374A-BB61-C5B3CD4C80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4767263"/>
            <a:ext cx="3086100" cy="273844"/>
          </a:xfrm>
        </p:spPr>
        <p:txBody>
          <a:bodyPr/>
          <a:lstStyle/>
          <a:p>
            <a:r>
              <a:rPr lang="en-US" dirty="0"/>
              <a:t>PR25-26, </a:t>
            </a:r>
            <a:r>
              <a:rPr lang="en-US" dirty="0" err="1"/>
              <a:t>Vmesna</a:t>
            </a:r>
            <a:r>
              <a:rPr lang="en-US" dirty="0"/>
              <a:t> </a:t>
            </a:r>
            <a:r>
              <a:rPr lang="en-US" dirty="0" err="1"/>
              <a:t>predstavitev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8002369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90</TotalTime>
  <Words>338</Words>
  <Application>Microsoft Office PowerPoint</Application>
  <PresentationFormat>On-screen Show (16:9)</PresentationFormat>
  <Paragraphs>71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Arial</vt:lpstr>
      <vt:lpstr>Calibri</vt:lpstr>
      <vt:lpstr>Calibri Light</vt:lpstr>
      <vt:lpstr>Office Theme</vt:lpstr>
      <vt:lpstr>Analiza dirk Formule 1</vt:lpstr>
      <vt:lpstr>PowerPoint Presentation</vt:lpstr>
      <vt:lpstr>PowerPoint Presentation</vt:lpstr>
      <vt:lpstr>PowerPoint Presentation</vt:lpstr>
      <vt:lpstr>Dodatna prosojnica za rezultate oz. odprta vprašanja (če potrebno)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Naslov projekta naj bo kratek, informativen in naj povzame bistvo projekta</dc:title>
  <dc:subject/>
  <dc:creator/>
  <cp:keywords/>
  <dc:description/>
  <cp:lastModifiedBy>Kozole Zoran, Matevž</cp:lastModifiedBy>
  <cp:revision>34</cp:revision>
  <dcterms:created xsi:type="dcterms:W3CDTF">2020-04-03T06:53:29Z</dcterms:created>
  <dcterms:modified xsi:type="dcterms:W3CDTF">2026-04-14T18:52:45Z</dcterms:modified>
  <cp:category/>
</cp:coreProperties>
</file>